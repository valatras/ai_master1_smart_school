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93" r:id="rId4"/>
    <p:sldId id="260" r:id="rId5"/>
    <p:sldId id="292" r:id="rId6"/>
    <p:sldId id="261" r:id="rId7"/>
    <p:sldId id="262" r:id="rId8"/>
    <p:sldId id="291" r:id="rId9"/>
    <p:sldId id="263" r:id="rId10"/>
    <p:sldId id="290" r:id="rId11"/>
    <p:sldId id="264" r:id="rId12"/>
    <p:sldId id="265" r:id="rId13"/>
    <p:sldId id="289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8" r:id="rId23"/>
    <p:sldId id="274" r:id="rId24"/>
    <p:sldId id="275" r:id="rId25"/>
    <p:sldId id="276" r:id="rId26"/>
    <p:sldId id="277" r:id="rId27"/>
    <p:sldId id="278" r:id="rId28"/>
    <p:sldId id="287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7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line">
            <a:avLst/>
          </a:prstGeom>
          <a:solidFill>
            <a:srgbClr val="4F46E5">
              <a:alpha val="25000"/>
            </a:srgbClr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lin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Methods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tree is never enough —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build a forest that’s far more reliable than any </a:t>
            </a:r>
            <a:r>
              <a:rPr lang="en-US" sz="1500" i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</a:t>
            </a:r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260604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13632"/>
            <a:ext cx="24231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variance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parallel trees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520440"/>
            <a:ext cx="2606040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356616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913632"/>
            <a:ext cx="24231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trees →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3520440"/>
            <a:ext cx="26060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640080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913632"/>
            <a:ext cx="242316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errors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020" y="250159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Decision trees are often instable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2166" y="502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3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0348" y="434452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94214" y="4435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65176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BankEU — 10 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256032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228600" y="1097280"/>
            <a:ext cx="256032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097280"/>
            <a:ext cx="566928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502920" y="1097280"/>
            <a:ext cx="566928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88136" y="1097280"/>
            <a:ext cx="521208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1088136" y="1097280"/>
            <a:ext cx="521208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27632" y="1097280"/>
            <a:ext cx="530352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1627632" y="1097280"/>
            <a:ext cx="530352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76272" y="1097280"/>
            <a:ext cx="566928" cy="2468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2176272" y="1097280"/>
            <a:ext cx="566928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362456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228600" y="1362456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1362456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502920" y="1362456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88136" y="1362456"/>
            <a:ext cx="5212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1088136" y="1362456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27632" y="1362456"/>
            <a:ext cx="530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1627632" y="1362456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76272" y="1362456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2176272" y="1362456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1609344"/>
            <a:ext cx="25603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228600" y="1609344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1609344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502920" y="1609344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88136" y="1609344"/>
            <a:ext cx="52120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1088136" y="1609344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627632" y="1609344"/>
            <a:ext cx="53035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1627632" y="1609344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176272" y="1609344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2176272" y="1609344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1856232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228600" y="1856232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1856232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502920" y="1856232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88136" y="1856232"/>
            <a:ext cx="5212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1088136" y="1856232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27632" y="1856232"/>
            <a:ext cx="530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1627632" y="1856232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176272" y="1856232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2176272" y="1856232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" y="2103120"/>
            <a:ext cx="25603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228600" y="2103120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2920" y="2103120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502920" y="2103120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88136" y="2103120"/>
            <a:ext cx="52120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1088136" y="2103120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27632" y="2103120"/>
            <a:ext cx="53035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1627632" y="2103120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176272" y="2103120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2176272" y="2103120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2350008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228600" y="2350008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" y="2350008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50292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88136" y="2350008"/>
            <a:ext cx="5212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1088136" y="2350008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627632" y="2350008"/>
            <a:ext cx="530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1627632" y="2350008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176272" y="2350008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Text 67"/>
          <p:cNvSpPr/>
          <p:nvPr/>
        </p:nvSpPr>
        <p:spPr>
          <a:xfrm>
            <a:off x="2176272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28600" y="2596896"/>
            <a:ext cx="25603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1" name="Text 69"/>
          <p:cNvSpPr/>
          <p:nvPr/>
        </p:nvSpPr>
        <p:spPr>
          <a:xfrm>
            <a:off x="228600" y="2596896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02920" y="2596896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3" name="Text 71"/>
          <p:cNvSpPr/>
          <p:nvPr/>
        </p:nvSpPr>
        <p:spPr>
          <a:xfrm>
            <a:off x="502920" y="2596896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088136" y="2596896"/>
            <a:ext cx="52120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5" name="Text 73"/>
          <p:cNvSpPr/>
          <p:nvPr/>
        </p:nvSpPr>
        <p:spPr>
          <a:xfrm>
            <a:off x="1088136" y="2596896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627632" y="2596896"/>
            <a:ext cx="53035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1627632" y="2596896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176272" y="2596896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9" name="Text 77"/>
          <p:cNvSpPr/>
          <p:nvPr/>
        </p:nvSpPr>
        <p:spPr>
          <a:xfrm>
            <a:off x="2176272" y="2596896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8600" y="2843784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1" name="Text 79"/>
          <p:cNvSpPr/>
          <p:nvPr/>
        </p:nvSpPr>
        <p:spPr>
          <a:xfrm>
            <a:off x="228600" y="2843784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02920" y="2843784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3" name="Text 81"/>
          <p:cNvSpPr/>
          <p:nvPr/>
        </p:nvSpPr>
        <p:spPr>
          <a:xfrm>
            <a:off x="502920" y="2843784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088136" y="2843784"/>
            <a:ext cx="5212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5" name="Text 83"/>
          <p:cNvSpPr/>
          <p:nvPr/>
        </p:nvSpPr>
        <p:spPr>
          <a:xfrm>
            <a:off x="1088136" y="2843784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627632" y="2843784"/>
            <a:ext cx="530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7" name="Text 85"/>
          <p:cNvSpPr/>
          <p:nvPr/>
        </p:nvSpPr>
        <p:spPr>
          <a:xfrm>
            <a:off x="1627632" y="2843784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176272" y="2843784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9" name="Text 87"/>
          <p:cNvSpPr/>
          <p:nvPr/>
        </p:nvSpPr>
        <p:spPr>
          <a:xfrm>
            <a:off x="2176272" y="2843784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28600" y="3090672"/>
            <a:ext cx="25603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1" name="Text 89"/>
          <p:cNvSpPr/>
          <p:nvPr/>
        </p:nvSpPr>
        <p:spPr>
          <a:xfrm>
            <a:off x="228600" y="3090672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02920" y="3090672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3" name="Text 91"/>
          <p:cNvSpPr/>
          <p:nvPr/>
        </p:nvSpPr>
        <p:spPr>
          <a:xfrm>
            <a:off x="502920" y="3090672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088136" y="3090672"/>
            <a:ext cx="52120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5" name="Text 93"/>
          <p:cNvSpPr/>
          <p:nvPr/>
        </p:nvSpPr>
        <p:spPr>
          <a:xfrm>
            <a:off x="1088136" y="3090672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627632" y="3090672"/>
            <a:ext cx="53035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7" name="Text 95"/>
          <p:cNvSpPr/>
          <p:nvPr/>
        </p:nvSpPr>
        <p:spPr>
          <a:xfrm>
            <a:off x="1627632" y="3090672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176272" y="3090672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9" name="Text 97"/>
          <p:cNvSpPr/>
          <p:nvPr/>
        </p:nvSpPr>
        <p:spPr>
          <a:xfrm>
            <a:off x="2176272" y="3090672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28600" y="3337560"/>
            <a:ext cx="2560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1" name="Text 99"/>
          <p:cNvSpPr/>
          <p:nvPr/>
        </p:nvSpPr>
        <p:spPr>
          <a:xfrm>
            <a:off x="228600" y="3337560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02920" y="3337560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3" name="Text 101"/>
          <p:cNvSpPr/>
          <p:nvPr/>
        </p:nvSpPr>
        <p:spPr>
          <a:xfrm>
            <a:off x="502920" y="3337560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088136" y="3337560"/>
            <a:ext cx="5212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5" name="Text 103"/>
          <p:cNvSpPr/>
          <p:nvPr/>
        </p:nvSpPr>
        <p:spPr>
          <a:xfrm>
            <a:off x="1088136" y="3337560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627632" y="3337560"/>
            <a:ext cx="5303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7" name="Text 105"/>
          <p:cNvSpPr/>
          <p:nvPr/>
        </p:nvSpPr>
        <p:spPr>
          <a:xfrm>
            <a:off x="1627632" y="3337560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176272" y="3337560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9" name="Text 107"/>
          <p:cNvSpPr/>
          <p:nvPr/>
        </p:nvSpPr>
        <p:spPr>
          <a:xfrm>
            <a:off x="2176272" y="3337560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28600" y="3584448"/>
            <a:ext cx="25603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1" name="Text 109"/>
          <p:cNvSpPr/>
          <p:nvPr/>
        </p:nvSpPr>
        <p:spPr>
          <a:xfrm>
            <a:off x="228600" y="3584448"/>
            <a:ext cx="256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02920" y="3584448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3" name="Text 111"/>
          <p:cNvSpPr/>
          <p:nvPr/>
        </p:nvSpPr>
        <p:spPr>
          <a:xfrm>
            <a:off x="502920" y="3584448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1088136" y="3584448"/>
            <a:ext cx="52120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5" name="Text 113"/>
          <p:cNvSpPr/>
          <p:nvPr/>
        </p:nvSpPr>
        <p:spPr>
          <a:xfrm>
            <a:off x="1088136" y="3584448"/>
            <a:ext cx="52120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627632" y="3584448"/>
            <a:ext cx="53035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7" name="Text 115"/>
          <p:cNvSpPr/>
          <p:nvPr/>
        </p:nvSpPr>
        <p:spPr>
          <a:xfrm>
            <a:off x="1627632" y="3584448"/>
            <a:ext cx="5303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2176272" y="3584448"/>
            <a:ext cx="566928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9" name="Text 117"/>
          <p:cNvSpPr/>
          <p:nvPr/>
        </p:nvSpPr>
        <p:spPr>
          <a:xfrm>
            <a:off x="2176272" y="3584448"/>
            <a:ext cx="5669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971800" y="804672"/>
            <a:ext cx="28346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1" name="Text 119"/>
          <p:cNvSpPr/>
          <p:nvPr/>
        </p:nvSpPr>
        <p:spPr>
          <a:xfrm>
            <a:off x="301752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 — trained on rows 1–8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297180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split: Income = High?</a:t>
            </a:r>
            <a:endParaRPr lang="en-US" sz="1000" dirty="0"/>
          </a:p>
        </p:txBody>
      </p:sp>
      <p:pic>
        <p:nvPicPr>
          <p:cNvPr id="1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389888"/>
            <a:ext cx="2834640" cy="3310128"/>
          </a:xfrm>
          <a:prstGeom prst="rect">
            <a:avLst/>
          </a:prstGeom>
        </p:spPr>
      </p:pic>
      <p:sp>
        <p:nvSpPr>
          <p:cNvPr id="124" name="Shape 121"/>
          <p:cNvSpPr/>
          <p:nvPr/>
        </p:nvSpPr>
        <p:spPr>
          <a:xfrm>
            <a:off x="5897880" y="797795"/>
            <a:ext cx="292608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5" name="Text 122"/>
          <p:cNvSpPr/>
          <p:nvPr/>
        </p:nvSpPr>
        <p:spPr>
          <a:xfrm>
            <a:off x="6035040" y="804672"/>
            <a:ext cx="2834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 — trained on rows 3–10</a:t>
            </a:r>
            <a:endParaRPr lang="en-US" sz="1000" dirty="0"/>
          </a:p>
        </p:txBody>
      </p:sp>
      <p:sp>
        <p:nvSpPr>
          <p:cNvPr id="126" name="Text 123"/>
          <p:cNvSpPr/>
          <p:nvPr/>
        </p:nvSpPr>
        <p:spPr>
          <a:xfrm>
            <a:off x="598932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split: Debt = Low?</a:t>
            </a:r>
            <a:endParaRPr lang="en-US" sz="1000" dirty="0"/>
          </a:p>
        </p:txBody>
      </p:sp>
      <p:pic>
        <p:nvPicPr>
          <p:cNvPr id="1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389888"/>
            <a:ext cx="2926080" cy="3310128"/>
          </a:xfrm>
          <a:prstGeom prst="rect">
            <a:avLst/>
          </a:prstGeom>
        </p:spPr>
      </p:pic>
      <p:sp>
        <p:nvSpPr>
          <p:cNvPr id="128" name="Shape 124"/>
          <p:cNvSpPr/>
          <p:nvPr/>
        </p:nvSpPr>
        <p:spPr>
          <a:xfrm>
            <a:off x="228600" y="4599432"/>
            <a:ext cx="8686800" cy="292608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9" name="Shape 125"/>
          <p:cNvSpPr/>
          <p:nvPr/>
        </p:nvSpPr>
        <p:spPr>
          <a:xfrm>
            <a:off x="228600" y="4599432"/>
            <a:ext cx="109728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0" name="Text 126"/>
          <p:cNvSpPr/>
          <p:nvPr/>
        </p:nvSpPr>
        <p:spPr>
          <a:xfrm>
            <a:off x="438912" y="4608576"/>
            <a:ext cx="8412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just 2 rows → the ROOT split changes completely. This is HIGH VARIANCE — the core problem ensembles solve.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Idea: Wisdom of Crowds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38912"/>
            <a:ext cx="85953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many weak models beat one strong model?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93192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Jar of Beans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2103120" cy="3063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people each guess the number of beans.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average: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0" y="2304288"/>
            <a:ext cx="1325880" cy="384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0"/>
          <p:cNvSpPr/>
          <p:nvPr/>
        </p:nvSpPr>
        <p:spPr>
          <a:xfrm>
            <a:off x="2743200" y="2304288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answer: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0" y="3017520"/>
            <a:ext cx="1325880" cy="384048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3"/>
          <p:cNvSpPr/>
          <p:nvPr/>
        </p:nvSpPr>
        <p:spPr>
          <a:xfrm>
            <a:off x="2743200" y="3017520"/>
            <a:ext cx="1325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743200" y="3520440"/>
            <a:ext cx="1325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guess: 820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4407408"/>
            <a:ext cx="3931920" cy="475488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Shape 16"/>
          <p:cNvSpPr/>
          <p:nvPr/>
        </p:nvSpPr>
        <p:spPr>
          <a:xfrm>
            <a:off x="274320" y="4407408"/>
            <a:ext cx="109728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7"/>
          <p:cNvSpPr/>
          <p:nvPr/>
        </p:nvSpPr>
        <p:spPr>
          <a:xfrm>
            <a:off x="475488" y="4425696"/>
            <a:ext cx="3611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 beats the expert — not because each person is smart, but because their errors cancel out.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89120" y="1005840"/>
            <a:ext cx="4480560" cy="3877056"/>
          </a:xfrm>
          <a:prstGeom prst="rect">
            <a:avLst/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Text 19"/>
          <p:cNvSpPr/>
          <p:nvPr/>
        </p:nvSpPr>
        <p:spPr>
          <a:xfrm>
            <a:off x="4526280" y="1051560"/>
            <a:ext cx="4206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(Condorcet's Theorem)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2628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model has 60% accuracy and they vote independently: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80560" y="1719072"/>
            <a:ext cx="4297680" cy="713232"/>
          </a:xfrm>
          <a:prstGeom prst="rect">
            <a:avLst/>
          </a:prstGeom>
          <a:solidFill>
            <a:srgbClr val="F8F7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Shape 22"/>
          <p:cNvSpPr/>
          <p:nvPr/>
        </p:nvSpPr>
        <p:spPr>
          <a:xfrm>
            <a:off x="4480560" y="1719072"/>
            <a:ext cx="4297680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Text 23"/>
          <p:cNvSpPr/>
          <p:nvPr/>
        </p:nvSpPr>
        <p:spPr>
          <a:xfrm>
            <a:off x="457200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0.6³ + 3(0.6²)(0.4) = 0.648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498080" y="1719072"/>
            <a:ext cx="1188720" cy="7132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6"/>
          <p:cNvSpPr/>
          <p:nvPr/>
        </p:nvSpPr>
        <p:spPr>
          <a:xfrm>
            <a:off x="7498080" y="1719072"/>
            <a:ext cx="11887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480560" y="2523744"/>
            <a:ext cx="4297680" cy="713232"/>
          </a:xfrm>
          <a:prstGeom prst="rect">
            <a:avLst/>
          </a:prstGeom>
          <a:solidFill>
            <a:srgbClr val="F8F7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Shape 28"/>
          <p:cNvSpPr/>
          <p:nvPr/>
        </p:nvSpPr>
        <p:spPr>
          <a:xfrm>
            <a:off x="4480560" y="2523744"/>
            <a:ext cx="429768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Text 29"/>
          <p:cNvSpPr/>
          <p:nvPr/>
        </p:nvSpPr>
        <p:spPr>
          <a:xfrm>
            <a:off x="4572000" y="2523744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models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0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P(majority) = 75%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498080" y="2523744"/>
            <a:ext cx="1188720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2"/>
          <p:cNvSpPr/>
          <p:nvPr/>
        </p:nvSpPr>
        <p:spPr>
          <a:xfrm>
            <a:off x="7498080" y="2523744"/>
            <a:ext cx="11887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4480560" y="3328416"/>
            <a:ext cx="4297680" cy="713232"/>
          </a:xfrm>
          <a:prstGeom prst="rect">
            <a:avLst/>
          </a:prstGeom>
          <a:solidFill>
            <a:srgbClr val="F8F7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Shape 34"/>
          <p:cNvSpPr/>
          <p:nvPr/>
        </p:nvSpPr>
        <p:spPr>
          <a:xfrm>
            <a:off x="4480560" y="3328416"/>
            <a:ext cx="4297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8" name="Text 35"/>
          <p:cNvSpPr/>
          <p:nvPr/>
        </p:nvSpPr>
        <p:spPr>
          <a:xfrm>
            <a:off x="4572000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models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0" y="362102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P(majority) = 98%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498080" y="3328416"/>
            <a:ext cx="11887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8"/>
          <p:cNvSpPr/>
          <p:nvPr/>
        </p:nvSpPr>
        <p:spPr>
          <a:xfrm>
            <a:off x="7498080" y="3328416"/>
            <a:ext cx="118872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4389120" y="4169664"/>
            <a:ext cx="4480560" cy="71323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Shape 40"/>
          <p:cNvSpPr/>
          <p:nvPr/>
        </p:nvSpPr>
        <p:spPr>
          <a:xfrm>
            <a:off x="4389120" y="4169664"/>
            <a:ext cx="109728" cy="7132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44" name="Text 41"/>
          <p:cNvSpPr/>
          <p:nvPr/>
        </p:nvSpPr>
        <p:spPr>
          <a:xfrm>
            <a:off x="4590288" y="4187952"/>
            <a:ext cx="416052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condition: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must make DIFFERENT errors.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all fail on the same cases, averaging does nothing.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6" name="Text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4 / 37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1: Bagging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Aggregating — How to create diverse trees from one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Session 7 — Ensemble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5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Bootstrap Sampling? The Business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74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math — why does this trick actually help?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new /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47548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50392"/>
            <a:ext cx="83210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we only have ONE dataset. We can't go collect more BankEU loan data.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train 100 different trees that all make DIFFERENT mistakes?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743200" cy="2670048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347472" y="1399032"/>
            <a:ext cx="2606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The Lottery Analogy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764792"/>
            <a:ext cx="2560320" cy="18105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shuffling 10 loan applications and drawing 10 with replacement. Some applications appear twice — row 3 might be drawn on draw 1 AND draw 6. Some never appear.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draw of 10 is a slightly different dataset.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059936"/>
            <a:ext cx="27432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347472" y="4059936"/>
            <a:ext cx="2606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bootstrap sampling.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1389888"/>
            <a:ext cx="2743200" cy="267004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3154680" y="1389888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3227832" y="1399032"/>
            <a:ext cx="2606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🗞️  The Journalist Analogy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764792"/>
            <a:ext cx="2560320" cy="18105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journalist interviews 10 people about a policy. Two interviewers each talk to 10 people — but since they draw from the same pool, they each get a slightly different mix.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Two journalists write different stories from the same population.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4059936"/>
            <a:ext cx="27432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3227832" y="4059936"/>
            <a:ext cx="2606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= one journalist's story.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389888"/>
            <a:ext cx="2743200" cy="26700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6035040" y="1389888"/>
            <a:ext cx="2743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6108192" y="1399032"/>
            <a:ext cx="2606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🏦  The BankEU Business Case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1764792"/>
            <a:ext cx="2560320" cy="18105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credit team has 1,000 historical loan decisions. Bootstrap lets you simulate 'what if we had slightly different data?'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simulated dataset trains a different tree. Their combined vote is more robust than any single model trained on your one real dataset.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059936"/>
            <a:ext cx="27432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6108192" y="4059936"/>
            <a:ext cx="2606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= 100 slightly different models.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07408"/>
            <a:ext cx="8595360" cy="384048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9" name="Shape 27"/>
          <p:cNvSpPr/>
          <p:nvPr/>
        </p:nvSpPr>
        <p:spPr>
          <a:xfrm>
            <a:off x="274320" y="4407408"/>
            <a:ext cx="109728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475488" y="4425696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bootstrapping doesn't create new data — it creates VARIATION in training sets. That variation means trees make DIFFERENT errors, and different errors cancel out when we vote.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Bootstrap Sampling — By Hand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WITH replacement from the original dataset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6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24928" y="308183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397496" y="353903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28600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194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(N=10)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365760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(High/Low/Old → YES)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08176"/>
            <a:ext cx="2286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365760" y="1408176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(Low/High/Young → NO)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700784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365760" y="1700784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(High/Low/Young → YES)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93392"/>
            <a:ext cx="2286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365760" y="1993392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(Low/Low/Old → YES)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(Low/High/Old → NO)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365760" y="2578608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365760" y="2871216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63824"/>
            <a:ext cx="2286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365760" y="3163824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8...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56432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365760" y="3456432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49040"/>
            <a:ext cx="228600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36576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10...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21031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dice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🎲  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2926080"/>
            <a:ext cx="457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0" cy="20116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Shape 31"/>
          <p:cNvSpPr/>
          <p:nvPr/>
        </p:nvSpPr>
        <p:spPr>
          <a:xfrm>
            <a:off x="3566160" y="822960"/>
            <a:ext cx="17373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3566160" y="822960"/>
            <a:ext cx="1737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 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66160" y="1115568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6" name="Text 34"/>
          <p:cNvSpPr/>
          <p:nvPr/>
        </p:nvSpPr>
        <p:spPr>
          <a:xfrm>
            <a:off x="3657600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66160" y="1408176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8" name="Text 36"/>
          <p:cNvSpPr/>
          <p:nvPr/>
        </p:nvSpPr>
        <p:spPr>
          <a:xfrm>
            <a:off x="3657600" y="140817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66160" y="1700784"/>
            <a:ext cx="1737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365760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66160" y="1993392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2" name="Text 40"/>
          <p:cNvSpPr/>
          <p:nvPr/>
        </p:nvSpPr>
        <p:spPr>
          <a:xfrm>
            <a:off x="365760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5 ★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66160" y="2286000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4" name="Text 42"/>
          <p:cNvSpPr/>
          <p:nvPr/>
        </p:nvSpPr>
        <p:spPr>
          <a:xfrm>
            <a:off x="365760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5 ★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66160" y="2578608"/>
            <a:ext cx="1737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6" name="Text 44"/>
          <p:cNvSpPr/>
          <p:nvPr/>
        </p:nvSpPr>
        <p:spPr>
          <a:xfrm>
            <a:off x="36576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66160" y="2871216"/>
            <a:ext cx="1737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8" name="Text 46"/>
          <p:cNvSpPr/>
          <p:nvPr/>
        </p:nvSpPr>
        <p:spPr>
          <a:xfrm>
            <a:off x="365760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66160" y="3163824"/>
            <a:ext cx="1737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0" name="Text 48"/>
          <p:cNvSpPr/>
          <p:nvPr/>
        </p:nvSpPr>
        <p:spPr>
          <a:xfrm>
            <a:off x="365760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66160" y="3456432"/>
            <a:ext cx="1737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2" name="Text 50"/>
          <p:cNvSpPr/>
          <p:nvPr/>
        </p:nvSpPr>
        <p:spPr>
          <a:xfrm>
            <a:off x="365760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66160" y="3749040"/>
            <a:ext cx="17373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4" name="Text 52"/>
          <p:cNvSpPr/>
          <p:nvPr/>
        </p:nvSpPr>
        <p:spPr>
          <a:xfrm>
            <a:off x="365760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566160" y="4078224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appears TWICE. Row 8 never appears.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40680" y="822960"/>
            <a:ext cx="17373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5440680" y="822960"/>
            <a:ext cx="1737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 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40680" y="1115568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5532120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40680" y="1408176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5532120" y="140817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40680" y="1700784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553212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7 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40680" y="1993392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553212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7 ★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40680" y="2286000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55321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40680" y="2578608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Text 67"/>
          <p:cNvSpPr/>
          <p:nvPr/>
        </p:nvSpPr>
        <p:spPr>
          <a:xfrm>
            <a:off x="55321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40680" y="2871216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1" name="Text 69"/>
          <p:cNvSpPr/>
          <p:nvPr/>
        </p:nvSpPr>
        <p:spPr>
          <a:xfrm>
            <a:off x="553212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40680" y="3163824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3" name="Text 71"/>
          <p:cNvSpPr/>
          <p:nvPr/>
        </p:nvSpPr>
        <p:spPr>
          <a:xfrm>
            <a:off x="553212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440680" y="3456432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5" name="Text 73"/>
          <p:cNvSpPr/>
          <p:nvPr/>
        </p:nvSpPr>
        <p:spPr>
          <a:xfrm>
            <a:off x="553212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440680" y="3749040"/>
            <a:ext cx="173736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553212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440680" y="4078224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7 appears TWICE. Row 8 never appears.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15200" y="822960"/>
            <a:ext cx="173736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0" name="Text 78"/>
          <p:cNvSpPr/>
          <p:nvPr/>
        </p:nvSpPr>
        <p:spPr>
          <a:xfrm>
            <a:off x="7315200" y="822960"/>
            <a:ext cx="1737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 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315200" y="1115568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2" name="Text 80"/>
          <p:cNvSpPr/>
          <p:nvPr/>
        </p:nvSpPr>
        <p:spPr>
          <a:xfrm>
            <a:off x="7406640" y="11155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315200" y="1408176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4" name="Text 82"/>
          <p:cNvSpPr/>
          <p:nvPr/>
        </p:nvSpPr>
        <p:spPr>
          <a:xfrm>
            <a:off x="7406640" y="140817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315200" y="1700784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6" name="Text 84"/>
          <p:cNvSpPr/>
          <p:nvPr/>
        </p:nvSpPr>
        <p:spPr>
          <a:xfrm>
            <a:off x="740664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9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315200" y="1993392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8" name="Text 86"/>
          <p:cNvSpPr/>
          <p:nvPr/>
        </p:nvSpPr>
        <p:spPr>
          <a:xfrm>
            <a:off x="740664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★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315200" y="2286000"/>
            <a:ext cx="17373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0" name="Text 88"/>
          <p:cNvSpPr/>
          <p:nvPr/>
        </p:nvSpPr>
        <p:spPr>
          <a:xfrm>
            <a:off x="74066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★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315200" y="2578608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2" name="Text 90"/>
          <p:cNvSpPr/>
          <p:nvPr/>
        </p:nvSpPr>
        <p:spPr>
          <a:xfrm>
            <a:off x="74066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315200" y="2871216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4" name="Text 92"/>
          <p:cNvSpPr/>
          <p:nvPr/>
        </p:nvSpPr>
        <p:spPr>
          <a:xfrm>
            <a:off x="740664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6" name="Text 94"/>
          <p:cNvSpPr/>
          <p:nvPr/>
        </p:nvSpPr>
        <p:spPr>
          <a:xfrm>
            <a:off x="740664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315200" y="3456432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8" name="Text 96"/>
          <p:cNvSpPr/>
          <p:nvPr/>
        </p:nvSpPr>
        <p:spPr>
          <a:xfrm>
            <a:off x="740664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7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315200" y="3749040"/>
            <a:ext cx="173736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0" name="Text 98"/>
          <p:cNvSpPr/>
          <p:nvPr/>
        </p:nvSpPr>
        <p:spPr>
          <a:xfrm>
            <a:off x="74066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10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315200" y="4078224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appears TWICE. Row 5 never appears.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3" name="Shape 101"/>
          <p:cNvSpPr/>
          <p:nvPr/>
        </p:nvSpPr>
        <p:spPr>
          <a:xfrm>
            <a:off x="274320" y="4480560"/>
            <a:ext cx="109728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4" name="Text 102"/>
          <p:cNvSpPr/>
          <p:nvPr/>
        </p:nvSpPr>
        <p:spPr>
          <a:xfrm>
            <a:off x="502920" y="4498848"/>
            <a:ext cx="8229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duplicated rows  |  Each sample is size N=10, but has ~6-7 unique rows (≈63.2%) and 3-4 repeated ones. Each tree trains on a different subset — so they'll make different errors!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Majority Vote — How Three Trees Decide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663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 independently; the majority overrules any single wrong tree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7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109728" cy="4114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02920" y="822960"/>
            <a:ext cx="8321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applicant to classify:  Income = HIGH   Debt = LOW   Age = YOUNG   →   Approve or Reject?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7863840" cy="3017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" y="4407408"/>
            <a:ext cx="2743200" cy="475488"/>
          </a:xfrm>
          <a:prstGeom prst="rect">
            <a:avLst/>
          </a:prstGeom>
          <a:solidFill>
            <a:srgbClr val="DBEAFE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0"/>
          <p:cNvSpPr/>
          <p:nvPr/>
        </p:nvSpPr>
        <p:spPr>
          <a:xfrm>
            <a:off x="365760" y="4425696"/>
            <a:ext cx="256032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Tree 1 &amp; Tree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617720"/>
            <a:ext cx="256032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trained on samples where High Income + Low Debt → approval. They vote APPROVE.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0" y="4407408"/>
            <a:ext cx="2743200" cy="475488"/>
          </a:xfrm>
          <a:prstGeom prst="rect">
            <a:avLst/>
          </a:prstGeom>
          <a:solidFill>
            <a:srgbClr val="EDE9FE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3"/>
          <p:cNvSpPr/>
          <p:nvPr/>
        </p:nvSpPr>
        <p:spPr>
          <a:xfrm>
            <a:off x="3291840" y="4425696"/>
            <a:ext cx="256032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Tree 3 (wrong)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91840" y="4617720"/>
            <a:ext cx="256032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bootstrap sample had many young rejections. It votes REJECT — but it's outvoted.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26480" y="4407408"/>
            <a:ext cx="2743200" cy="475488"/>
          </a:xfrm>
          <a:prstGeom prst="rect">
            <a:avLst/>
          </a:prstGeom>
          <a:solidFill>
            <a:srgbClr val="D1FAE5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6"/>
          <p:cNvSpPr/>
          <p:nvPr/>
        </p:nvSpPr>
        <p:spPr>
          <a:xfrm>
            <a:off x="6217920" y="4425696"/>
            <a:ext cx="256032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Majority wins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4617720"/>
            <a:ext cx="256032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vs 1: the wrong tree's error is corrected. This is the power of ensemble averaging.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Implementing Bagging in sklearn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9834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BaggingClassifier: the explicit version before Random Forest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new /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87768" y="356616"/>
            <a:ext cx="1627632" cy="23774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287768" y="356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Code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4754880" cy="39502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BaggingClassifier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load_breast_cancer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load_breast_cancer(return_X_y=True)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stratify=y, random_state=42)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Explicit Bagging ──────────────────────────────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 = BaggingClassifier(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estimator=DecisionTreeClassifier(max_depth=None),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n_estimators=100,      # number of trees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max_samples=1.0,       # fraction of rows per tree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max_features=1.0,      # ALL features (pure bagging)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bootstrap=True,        # sample WITH replacement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bootstrap_features=False,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oob_score=True,        # free validation!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n_jobs=-1,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bag.fit(X_train, y_train)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print(f"OOB score:  {bag.oob_score_:.3f}")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print(f"Test score: {bag.score(X_test, y_test):.3f}")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cross_val_score(bag, X, y, cv=5, scoring='roc_auc')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print(f"CV AUC: {scores.mean():.3f} ± {scores.std():.3f}")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49240" y="822960"/>
            <a:ext cx="3566160" cy="96012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5349240" y="822960"/>
            <a:ext cx="109728" cy="9601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5532120" y="859536"/>
            <a:ext cx="33101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estimator=DecisionTreeClassifier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32120" y="1097280"/>
            <a:ext cx="331012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sklearn estimator works here — SVM, KNN, even LogReg. Bagging is not tree-specific. Trees are just the most common choice because they're fast and high-variance.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9240" y="1847088"/>
            <a:ext cx="3566160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5349240" y="1847088"/>
            <a:ext cx="109728" cy="9601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5532120" y="1883664"/>
            <a:ext cx="33101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max_features=1.0  (all features)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32120" y="2121408"/>
            <a:ext cx="331012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difference from Random Forest. Bagging uses ALL features at every split. RF will use only √p features. This is why RF creates more diverse trees.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871216"/>
            <a:ext cx="3566160" cy="9601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5349240" y="2871216"/>
            <a:ext cx="109728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5532120" y="2907792"/>
            <a:ext cx="33101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bootstrap=True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2120" y="3145536"/>
            <a:ext cx="331012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trains on a random sample drawn WITH replacement. Set bootstrap=False to sample without replacement — that's called Pasting, not Bagging.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3895344"/>
            <a:ext cx="3566160" cy="9601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5349240" y="3895344"/>
            <a:ext cx="109728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5532120" y="3931920"/>
            <a:ext cx="331012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oob_score=True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32120" y="4169664"/>
            <a:ext cx="331012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doesn't see ~37% of rows. Those rows form the Out-Of-Bag set. Evaluating on OOB gives a free validation score — no cross-validation needed.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Bootstrap Samples Have ~63.2% Unique Rows?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24293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mathematical fact — explained from scratch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8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47231" y="471641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28943" y="540221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2062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Derivation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0233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3200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1280160"/>
            <a:ext cx="36118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N=10 rows. We draw 10 times with replacement.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75104"/>
            <a:ext cx="40233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365760" y="1975104"/>
            <a:ext cx="3200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1993392"/>
            <a:ext cx="36118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row #1 is NOT picked on draw 1: 9/10 = 0.9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402336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365760" y="2688336"/>
            <a:ext cx="3200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" y="2706624"/>
            <a:ext cx="36118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row #1 is missed on ALL 10 draws: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(9/10)¹⁰ = 0.9¹⁰ ≈ 0.349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02336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3200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" y="3419856"/>
            <a:ext cx="36118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probability row #1 IS included: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1 − 0.349 = 0.651 ≈ 65%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4023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3200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4133088"/>
            <a:ext cx="36118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 → ∞:  1 − (1 − 1/N)ᴺ → 1 − 1/e ≈ 0.632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822960"/>
            <a:ext cx="42062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475488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in Practice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261872"/>
            <a:ext cx="4023360" cy="777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Shape 26"/>
          <p:cNvSpPr/>
          <p:nvPr/>
        </p:nvSpPr>
        <p:spPr>
          <a:xfrm>
            <a:off x="4754880" y="1261872"/>
            <a:ext cx="9144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4754880" y="1261872"/>
            <a:ext cx="9144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≈63%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1298448"/>
            <a:ext cx="2926080" cy="7040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appear in each bootstrap sample (the training set)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121408"/>
            <a:ext cx="4023360" cy="77724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4754880" y="2121408"/>
            <a:ext cx="9144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4754880" y="2121408"/>
            <a:ext cx="9144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≈37%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60720" y="2157984"/>
            <a:ext cx="2926080" cy="7040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are left out (called Out-of-Bag or OOB rows)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80944"/>
            <a:ext cx="4023360" cy="7772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6" name="Shape 34"/>
          <p:cNvSpPr/>
          <p:nvPr/>
        </p:nvSpPr>
        <p:spPr>
          <a:xfrm>
            <a:off x="4754880" y="2980944"/>
            <a:ext cx="9144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4754880" y="2980944"/>
            <a:ext cx="9144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Free!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60720" y="3017520"/>
            <a:ext cx="2926080" cy="7040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rows act like a built-in validation set — often reducing the need for cross-validation during tuning, though a held-out test set remains best practice.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023360" cy="77724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9144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4754880" y="3840480"/>
            <a:ext cx="9144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760720" y="3877056"/>
            <a:ext cx="2926080" cy="7040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has different OOB rows, so each tree sees a different 'test set'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4" name="Text 42"/>
          <p:cNvSpPr/>
          <p:nvPr/>
        </p:nvSpPr>
        <p:spPr>
          <a:xfrm>
            <a:off x="457200" y="4636008"/>
            <a:ext cx="83210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OOB Score in sklearn: RandomForestClassifier(oob_score=True) → free validation at no extra cost!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OOB Score: Built-in Validation for Random Forest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74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37% of rows each tree never saw become its personal test 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new /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1148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OOB Works — Step by Step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3931920" cy="75895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365760" y="1261872"/>
            <a:ext cx="347472" cy="7589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365760" y="1261872"/>
            <a:ext cx="347472" cy="7589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129844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creates each training set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1554480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42 is trained on rows: {1,1,3,5,6,6,8,9,9,10}.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2, 4, 7 never appeared → these are OOB for Tree 42.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3931920" cy="75895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365760" y="2084832"/>
            <a:ext cx="347472" cy="7589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347472" cy="7589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212140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rows are used for evaluation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" y="2377440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42 predicts row 2 (which it never trained on).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genuine out-of-sample prediction.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3931920" cy="75895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347472" cy="7589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365760" y="2907792"/>
            <a:ext cx="347472" cy="7589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6384" y="294436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OOB for ~37% of trees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" y="3200400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is OOB for Tree 42, Tree 15, Tree 67…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gets evaluated by ~37 trees out of 100.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730752"/>
            <a:ext cx="3931920" cy="75895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365760" y="3730752"/>
            <a:ext cx="347472" cy="7589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365760" y="3730752"/>
            <a:ext cx="347472" cy="7589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6384" y="3767328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all OOB predictions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6384" y="4023360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row, average the predictions from the trees that didn't see it.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true label → OOB score.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830394"/>
            <a:ext cx="43434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4709160" y="868680"/>
            <a:ext cx="40690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OOB Score in Practice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0" y="1234440"/>
            <a:ext cx="4343400" cy="144475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4" name="Shape 32"/>
          <p:cNvSpPr/>
          <p:nvPr/>
        </p:nvSpPr>
        <p:spPr>
          <a:xfrm>
            <a:off x="4617720" y="1261872"/>
            <a:ext cx="13716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4654296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261872"/>
            <a:ext cx="109728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6071616" y="1261872"/>
            <a:ext cx="10241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78040" y="1261872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7214616" y="1261872"/>
            <a:ext cx="157276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1536192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4654296" y="1536192"/>
            <a:ext cx="129844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35040" y="1536192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6071616" y="1536192"/>
            <a:ext cx="10241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78040" y="1536192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7214616" y="1536192"/>
            <a:ext cx="157276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1810512"/>
            <a:ext cx="1371600" cy="256032"/>
          </a:xfrm>
          <a:prstGeom prst="rect">
            <a:avLst/>
          </a:prstGeom>
          <a:solidFill>
            <a:srgbClr val="F5F5FF"/>
          </a:solidFill>
          <a:ln w="12700">
            <a:solidFill>
              <a:srgbClr val="F5F5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4654296" y="1810512"/>
            <a:ext cx="129844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35040" y="1810512"/>
            <a:ext cx="1097280" cy="256032"/>
          </a:xfrm>
          <a:prstGeom prst="rect">
            <a:avLst/>
          </a:prstGeom>
          <a:solidFill>
            <a:srgbClr val="F5F5FF"/>
          </a:solidFill>
          <a:ln w="12700">
            <a:solidFill>
              <a:srgbClr val="F5F5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6071616" y="1810512"/>
            <a:ext cx="10241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forest fit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178040" y="1810512"/>
            <a:ext cx="1645920" cy="256032"/>
          </a:xfrm>
          <a:prstGeom prst="rect">
            <a:avLst/>
          </a:prstGeom>
          <a:solidFill>
            <a:srgbClr val="F5F5FF"/>
          </a:solidFill>
          <a:ln w="12700">
            <a:solidFill>
              <a:srgbClr val="F5F5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7214616" y="1810512"/>
            <a:ext cx="157276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model fits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17720" y="2084832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4654296" y="2084832"/>
            <a:ext cx="129844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35040" y="2084832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6071616" y="2084832"/>
            <a:ext cx="10241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~63%/tree; all rows contribute across forest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178040" y="2084832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7214616" y="2084832"/>
            <a:ext cx="157276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validate; every row validated once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17720" y="2359152"/>
            <a:ext cx="1371600" cy="256032"/>
          </a:xfrm>
          <a:prstGeom prst="rect">
            <a:avLst/>
          </a:prstGeom>
          <a:solidFill>
            <a:srgbClr val="F5F5FF"/>
          </a:solidFill>
          <a:ln w="12700">
            <a:solidFill>
              <a:srgbClr val="F5F5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4654296" y="2359152"/>
            <a:ext cx="129844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35040" y="2359152"/>
            <a:ext cx="1097280" cy="256032"/>
          </a:xfrm>
          <a:prstGeom prst="rect">
            <a:avLst/>
          </a:prstGeom>
          <a:solidFill>
            <a:srgbClr val="F5F5FF"/>
          </a:solidFill>
          <a:ln w="12700">
            <a:solidFill>
              <a:srgbClr val="F5F5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6071616" y="2359152"/>
            <a:ext cx="10241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bagging (N&gt;500, trees≥100)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78040" y="2359152"/>
            <a:ext cx="1645920" cy="256032"/>
          </a:xfrm>
          <a:prstGeom prst="rect">
            <a:avLst/>
          </a:prstGeom>
          <a:solidFill>
            <a:srgbClr val="F5F5FF"/>
          </a:solidFill>
          <a:ln w="12700">
            <a:solidFill>
              <a:srgbClr val="F5F5FF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7214616" y="2359152"/>
            <a:ext cx="157276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general; robust across model types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0" y="2834640"/>
            <a:ext cx="4343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4709160" y="2871216"/>
            <a:ext cx="40690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trust OOB score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663440" y="3163824"/>
            <a:ext cx="4160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 &gt; 500 rows — enough OOB samples per tree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663440" y="3493008"/>
            <a:ext cx="4160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n_estimators ≥ 100 — stable OOB estimate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663440" y="3822192"/>
            <a:ext cx="4160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Very small datasets (N &lt; 200) — use CV instead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63440" y="4151376"/>
            <a:ext cx="41605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Highly imbalanced classes — OOB may be misleading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0" y="3913632"/>
            <a:ext cx="4343400" cy="978408"/>
          </a:xfrm>
          <a:prstGeom prst="rect">
            <a:avLst/>
          </a:prstGeom>
          <a:solidFill>
            <a:srgbClr val="EDE9FE"/>
          </a:solidFill>
          <a:ln w="1905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1" name="Shape 69"/>
          <p:cNvSpPr/>
          <p:nvPr/>
        </p:nvSpPr>
        <p:spPr>
          <a:xfrm>
            <a:off x="4572000" y="3913632"/>
            <a:ext cx="109728" cy="9784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2" name="Text 70"/>
          <p:cNvSpPr/>
          <p:nvPr/>
        </p:nvSpPr>
        <p:spPr>
          <a:xfrm>
            <a:off x="4773168" y="3950208"/>
            <a:ext cx="402336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usage: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773168" y="4169664"/>
            <a:ext cx="40233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RandomForestClassifier(oob_score=True)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print(rf.oob_score_)   # e.g. 0.961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Random Forest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one extra trick that changes everything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Session 7 — Ensemble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9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Plain Bagging: Correlated Trees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alone doesn't create enough diversity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10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5074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Exam Panel Analogy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295028"/>
            <a:ext cx="5120640" cy="14173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502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1353312"/>
            <a:ext cx="43891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Panel (Bagging alone)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673352"/>
            <a:ext cx="43891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hire 5 interviewers, all from the same school, all with the same specialty. They all like the same candidates and all hate the same ones. Majority vote adds nothing — they always agree.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120640" cy="14173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11480" y="2852928"/>
            <a:ext cx="502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43891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Panel (Random Forest)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227832"/>
            <a:ext cx="43891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hire 5 interviewers from different backgrounds: finance, tech, HR, strategy, operations. They notice different things. Now the majority vote is genuinely informative.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133088"/>
            <a:ext cx="5120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if Income is the strongest feature, ALL trees will use Income as their root split.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They'll be almost identical — and majority vote won't help.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822960"/>
            <a:ext cx="3200400" cy="411480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5852160" y="868680"/>
            <a:ext cx="30175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Solution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each tree can only consider a RANDOM SUBSET of features.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828800"/>
            <a:ext cx="301752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has 3 features: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√p rule (√3 ≈ 1-2):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 sees: Income, Debt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 sees: Debt, Age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 sees: Income, Age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they MUST split differently!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notices different patterns.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4617720"/>
            <a:ext cx="320040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5760720" y="4617720"/>
            <a:ext cx="32004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√p for classification  |  p/3 for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Random Forest Outperform a Single Tree?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83464" y="51206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using 100 trees instead of 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new /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47548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50392"/>
            <a:ext cx="83210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BankEU scenario: you trained ONE decision tree. It gets 78% accuracy.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 asks: 'Can we do better without hiring a data scientist for weeks?'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743200" cy="358444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347472" y="1399032"/>
            <a:ext cx="2606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Single Decision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810512"/>
            <a:ext cx="25420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011680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to train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267712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interpretable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523744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Visualisable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798064"/>
            <a:ext cx="25420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2999232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Unstable — change 3 rows → new tree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255264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Overfits training data easily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511296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 bad split ruins everything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736592"/>
            <a:ext cx="2743200" cy="475488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274320" y="4736592"/>
            <a:ext cx="109728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24871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stakeholders demand explanation (e.g. EU AI Act audit). Otherwise, upgrade.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1389888"/>
            <a:ext cx="2743200" cy="3584448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3154680" y="1389888"/>
            <a:ext cx="27432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3227832" y="1399032"/>
            <a:ext cx="2606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🌲🌲  Bagging (100 trees)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64408" y="1810512"/>
            <a:ext cx="25420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64408" y="2011680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More stable than 1 tree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64408" y="2267712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OOB score = free validation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64408" y="2523744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 base estimator works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64408" y="2798064"/>
            <a:ext cx="25420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64408" y="2999232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All trees can split on same feature first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64408" y="3255264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Correlated trees = less diversity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64408" y="3511296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Slightly harder to explain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54680" y="4736592"/>
            <a:ext cx="2743200" cy="475488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6" name="Shape 34"/>
          <p:cNvSpPr/>
          <p:nvPr/>
        </p:nvSpPr>
        <p:spPr>
          <a:xfrm>
            <a:off x="3154680" y="4736592"/>
            <a:ext cx="109728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3337560" y="4754880"/>
            <a:ext cx="24871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one tree. But trees are still too similar. We can do better.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1389888"/>
            <a:ext cx="2743200" cy="358444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9" name="Shape 37"/>
          <p:cNvSpPr/>
          <p:nvPr/>
        </p:nvSpPr>
        <p:spPr>
          <a:xfrm>
            <a:off x="6035040" y="1389888"/>
            <a:ext cx="2743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6108192" y="1399032"/>
            <a:ext cx="2606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🌳🌲🌴  Random Forest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1810512"/>
            <a:ext cx="25420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44768" y="2011680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Diverse trees → uncorrelated errors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44768" y="2267712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OOB score built in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44768" y="2523744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 for free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44768" y="2798064"/>
            <a:ext cx="25420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44768" y="2999232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Slower than 1 tree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44768" y="3255264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Often outperformed by tuned gradient boosting on structured/tabular data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44768" y="3511296"/>
            <a:ext cx="25420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Still not great for very noisy data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35040" y="4736592"/>
            <a:ext cx="2743200" cy="47548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0" name="Shape 48"/>
          <p:cNvSpPr/>
          <p:nvPr/>
        </p:nvSpPr>
        <p:spPr>
          <a:xfrm>
            <a:off x="6035040" y="4736592"/>
            <a:ext cx="109728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6217920" y="4754880"/>
            <a:ext cx="248716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spot: 5 minutes to train, 87%+ accuracy, interpretable importance scores.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Forest: Full Algorithm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random feature subsets = diverse, stable forest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11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5943600" cy="6766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457200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45720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886968"/>
            <a:ext cx="1463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179576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with replacement from training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950976"/>
            <a:ext cx="18288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4434840" y="950976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63.2% unique, 36.8% OOB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591056"/>
            <a:ext cx="5943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6" name="Shape 14"/>
          <p:cNvSpPr/>
          <p:nvPr/>
        </p:nvSpPr>
        <p:spPr>
          <a:xfrm>
            <a:off x="274320" y="1591056"/>
            <a:ext cx="457200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274320" y="1591056"/>
            <a:ext cx="45720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1636776"/>
            <a:ext cx="1463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192938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node split, randomly select √p features to consider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700784"/>
            <a:ext cx="18288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434840" y="1700784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forces diversity between trees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5943600" cy="6766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274320" y="2340864"/>
            <a:ext cx="457200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274320" y="2340864"/>
            <a:ext cx="45720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2386584"/>
            <a:ext cx="1463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Full Tree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unpruned decision tree on the bootstrap sample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2450592"/>
            <a:ext cx="18288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434840" y="2450592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tree has low bias, high variance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90672"/>
            <a:ext cx="5943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0" name="Shape 28"/>
          <p:cNvSpPr/>
          <p:nvPr/>
        </p:nvSpPr>
        <p:spPr>
          <a:xfrm>
            <a:off x="274320" y="3090672"/>
            <a:ext cx="457200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45720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7240" y="3136392"/>
            <a:ext cx="1463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1-3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n_estimators trees (typically 100-500)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3200400"/>
            <a:ext cx="18288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44348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trees = more stable; test error usually plateaus rather than worsens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5943600" cy="676656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457200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8" name="Text 36"/>
          <p:cNvSpPr/>
          <p:nvPr/>
        </p:nvSpPr>
        <p:spPr>
          <a:xfrm>
            <a:off x="274320" y="3840480"/>
            <a:ext cx="45720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724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majority vote  |  Regression: average prediction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3950208"/>
            <a:ext cx="18288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2" name="Text 40"/>
          <p:cNvSpPr/>
          <p:nvPr/>
        </p:nvSpPr>
        <p:spPr>
          <a:xfrm>
            <a:off x="4434840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variance cancels out across trees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822960"/>
            <a:ext cx="2560320" cy="4069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4" name="Text 42"/>
          <p:cNvSpPr/>
          <p:nvPr/>
        </p:nvSpPr>
        <p:spPr>
          <a:xfrm>
            <a:off x="6492240" y="850392"/>
            <a:ext cx="23774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1115568"/>
            <a:ext cx="24688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RandomForestClassifier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n_estimators=100,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max_features="sqrt",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oob_score=True,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n_jobs=-1,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Free OOB validation!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print(rf.oob_score_)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importance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rf.feature_importances_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617720"/>
            <a:ext cx="594360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411480" y="4626864"/>
            <a:ext cx="566928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params: n_estimators ↑ = more stable (not overfit)  |  max_features controls diversity  |  min_samples_leaf controls tree depth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Forest: Feature Subsets in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exactly how two trees split differently on the same node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Deep Dive — RF Feature Subsets / undefined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384048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109728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50292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BankEU dataset: 3 features (Income, Debt, Age).  √3 ≈ 1.7 → each node considers 2 randomly selected features.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trace the ROOT NODE split for Tree 1 and Tree 2 from scratch.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4206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274320" y="1298448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32004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 — Root 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available at this node: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1993392"/>
            <a:ext cx="11887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57200" y="1993392"/>
            <a:ext cx="1097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Income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1993392"/>
            <a:ext cx="10058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173736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Debt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1993392"/>
            <a:ext cx="914400" cy="34747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2834640" y="1993392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1993392"/>
            <a:ext cx="1554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in this node's random subset)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evaluate each allowed feature: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724912"/>
            <a:ext cx="3749040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50292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Income = High?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36118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(High): 4 YES, 1 NO  →  Gini = 1 − (4/5)² − (1/5)² = 0.32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(Low): 1 YES, 4 NO  →  Gini = 1 − (1/5)² − (4/5)² = 0.32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 (5/10)×0.32 + (5/10)×0.32 = 0.32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931920"/>
            <a:ext cx="374904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502920" y="396849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Debt = Low?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224528"/>
            <a:ext cx="3611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(Low): 5 YES, 1 NO  →  Gini = 1−(5/6)²−(1/6)² = 0.28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(High): 0 YES, 4 NO  →  Gini = 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 (6/10)×0.28 + (4/10)×0 = 0.167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864608"/>
            <a:ext cx="374904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502920" y="4864608"/>
            <a:ext cx="361188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Tree 1 splits on DEBT (Gini 0.167 &lt; 0.32)  — Age was never even considered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298448"/>
            <a:ext cx="4206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4663440" y="1298448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470916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 — Root Node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available at this node: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1993392"/>
            <a:ext cx="1005840" cy="347472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6" name="Text 34"/>
          <p:cNvSpPr/>
          <p:nvPr/>
        </p:nvSpPr>
        <p:spPr>
          <a:xfrm>
            <a:off x="484632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Income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1993392"/>
            <a:ext cx="10058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8" name="Text 36"/>
          <p:cNvSpPr/>
          <p:nvPr/>
        </p:nvSpPr>
        <p:spPr>
          <a:xfrm>
            <a:off x="594360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Debt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95160" y="1993392"/>
            <a:ext cx="914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7040880" y="1993392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evaluate each allowed feature: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2724912"/>
            <a:ext cx="374904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489204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Debt = Low?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3017520"/>
            <a:ext cx="36118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(Low): 5 YES, 1 NO  →  Gini = 0.28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(High): 0 YES, 4 NO  →  Gini = 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Gini = 0.167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675888"/>
            <a:ext cx="37490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6" name="Text 44"/>
          <p:cNvSpPr/>
          <p:nvPr/>
        </p:nvSpPr>
        <p:spPr>
          <a:xfrm>
            <a:off x="4892040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Age = Old?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3968496"/>
            <a:ext cx="36118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(Old): 3 YES, 1 NO  →  Gini = 0.375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(Young): 2 YES, 4 NO  →  Gini = 0.44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 (4/10)×0.375 + (6/10)×0.44 = 0.414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4800600"/>
            <a:ext cx="374904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4892040" y="4818888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Tree 2 also splits on DEBT (0.167 beats 0.414)  — Income was never considered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5102352"/>
            <a:ext cx="8595360" cy="320040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Shape 49"/>
          <p:cNvSpPr/>
          <p:nvPr/>
        </p:nvSpPr>
        <p:spPr>
          <a:xfrm>
            <a:off x="274320" y="5102352"/>
            <a:ext cx="109728" cy="320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2" name="Text 50"/>
          <p:cNvSpPr/>
          <p:nvPr/>
        </p:nvSpPr>
        <p:spPr>
          <a:xfrm>
            <a:off x="502920" y="512064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picked Debt here — but on deeper nodes, the random subsets force different paths → trees eventually diverge. With more features (30, 100), √p subsets create much more diversity.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Importance: How Does Random Forest Know What Matters?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4800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Decrease in Impurity — explained step by step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13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754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4572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Calculated (MDI)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57200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292608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365760" y="1261872"/>
            <a:ext cx="292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1316736"/>
            <a:ext cx="41605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tree, look at every split made on feature 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4572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365760" y="1856232"/>
            <a:ext cx="292608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365760" y="1856232"/>
            <a:ext cx="292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1911096"/>
            <a:ext cx="41605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how much that split reduced impurity (Gini / Entropy) × the number of samples it affected.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50592"/>
            <a:ext cx="457200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65760" y="2450592"/>
            <a:ext cx="292608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365760" y="2450592"/>
            <a:ext cx="292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2505456"/>
            <a:ext cx="41605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this across all trees.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4572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365760" y="3044952"/>
            <a:ext cx="292608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365760" y="3044952"/>
            <a:ext cx="292608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099816"/>
            <a:ext cx="41605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so all importances sum to 1.0.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Feature importance = 0.42 means this feature reduced impurity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42% of the total reduction across all trees and all splits.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82296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5349240" y="868680"/>
            <a:ext cx="3429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BankEU Loan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63640" y="1389888"/>
            <a:ext cx="1810512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8119872" y="1389888"/>
            <a:ext cx="457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16712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263640" y="2258568"/>
            <a:ext cx="98755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6" name="Text 34"/>
          <p:cNvSpPr/>
          <p:nvPr/>
        </p:nvSpPr>
        <p:spPr>
          <a:xfrm>
            <a:off x="7296912" y="2258568"/>
            <a:ext cx="457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263640" y="3127248"/>
            <a:ext cx="4937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6803136" y="3127248"/>
            <a:ext cx="457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3913632"/>
            <a:ext cx="3474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“Income accounts for 55% of the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impurity reduction. Age barely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compared to debt levels."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8595360" cy="438912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4" name="Shape 42"/>
          <p:cNvSpPr/>
          <p:nvPr/>
        </p:nvSpPr>
        <p:spPr>
          <a:xfrm>
            <a:off x="274320" y="4434840"/>
            <a:ext cx="109728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50292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MDI is biased toward high-cardinality features (many unique values). Use Permutation Importance (sklearn's permutation_importance()) for more reliable results, especially with categorical data.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3: Boosting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completely different strategy — learn from your mistakes, sequentially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Session 7 — Ensemble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14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Boosting: Sequential Error Correction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focuses on the mistakes the previous model made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15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Tutor–Student Analogy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3886200" cy="6949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64008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365760" y="1261872"/>
            <a:ext cx="64008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" y="1298448"/>
            <a:ext cx="3154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takes test → 60% score. Tutor notes which 4 problems were WRONG.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39112"/>
            <a:ext cx="3886200" cy="69494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365760" y="2039112"/>
            <a:ext cx="64008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365760" y="2039112"/>
            <a:ext cx="64008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0704" y="2075688"/>
            <a:ext cx="3154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study plan focused entirely on those 4 wrong topics. Score: 75%.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3886200" cy="69494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65760" y="2816352"/>
            <a:ext cx="64008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365760" y="2816352"/>
            <a:ext cx="64008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" y="2852928"/>
            <a:ext cx="3154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errors appear. Tutor focuses again on only those. Score: 85%.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593592"/>
            <a:ext cx="3886200" cy="69494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365760" y="3593592"/>
            <a:ext cx="64008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365760" y="3593592"/>
            <a:ext cx="64008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" y="3630168"/>
            <a:ext cx="31546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study sessions combined = the full knowledge. Score: 92%.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4069080" cy="4572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11480" y="4453128"/>
            <a:ext cx="384048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parallel, independent trees  →  reduces VARIANCE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Boosting: sequential, each fixes last one's errors  →  reduces BIAS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822960"/>
            <a:ext cx="44348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4617720" y="868680"/>
            <a:ext cx="4160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Algorithm</a:t>
            </a:r>
            <a:endParaRPr lang="en-US" sz="13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34440"/>
            <a:ext cx="434340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AdaBoost — Step by Step (Round 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92529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points, starting weights = 1/6 each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16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dataset: 6 applicants  |  + = Approve  |  − = Reject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2743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274320" y="1143000"/>
            <a:ext cx="274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" y="1143000"/>
            <a:ext cx="685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576072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80160" y="1143000"/>
            <a:ext cx="640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1280160" y="1143000"/>
            <a:ext cx="6400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38528" y="1143000"/>
            <a:ext cx="548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1938528" y="1143000"/>
            <a:ext cx="548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14600" y="1143000"/>
            <a:ext cx="1188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251460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(Round 1)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21608" y="1143000"/>
            <a:ext cx="868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3721608" y="1143000"/>
            <a:ext cx="868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1143000"/>
            <a:ext cx="10058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617720" y="1143000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1545336"/>
            <a:ext cx="2743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274320" y="1545336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" y="1545336"/>
            <a:ext cx="6858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576072" y="1545336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80160" y="1545336"/>
            <a:ext cx="6400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1280160" y="1545336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38528" y="1545336"/>
            <a:ext cx="548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1938528" y="1545336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14600" y="1545336"/>
            <a:ext cx="11887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2514600" y="1545336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= 0.167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21608" y="1545336"/>
            <a:ext cx="868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3721608" y="1545336"/>
            <a:ext cx="868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1545336"/>
            <a:ext cx="10058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4617720" y="1545336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1892808"/>
            <a:ext cx="27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274320" y="1892808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6072" y="1892808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576072" y="1892808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80160" y="1892808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1280160" y="1892808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38528" y="18928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1938528" y="1892808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14600" y="189280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2514600" y="1892808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= 0.167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21608" y="1892808"/>
            <a:ext cx="868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3721608" y="1892808"/>
            <a:ext cx="868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189280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4617720" y="1892808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2240280"/>
            <a:ext cx="2743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274320" y="2240280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" y="2240280"/>
            <a:ext cx="6858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576072" y="224028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280160" y="2240280"/>
            <a:ext cx="6400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1280160" y="2240280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938528" y="2240280"/>
            <a:ext cx="548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1938528" y="2240280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14600" y="2240280"/>
            <a:ext cx="11887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251460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= 0.167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721608" y="2240280"/>
            <a:ext cx="868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3721608" y="2240280"/>
            <a:ext cx="868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2240280"/>
            <a:ext cx="10058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4617720" y="2240280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2587752"/>
            <a:ext cx="27432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274320" y="2587752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76072" y="2587752"/>
            <a:ext cx="68580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Text 67"/>
          <p:cNvSpPr/>
          <p:nvPr/>
        </p:nvSpPr>
        <p:spPr>
          <a:xfrm>
            <a:off x="576072" y="258775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280160" y="2587752"/>
            <a:ext cx="64008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1" name="Text 69"/>
          <p:cNvSpPr/>
          <p:nvPr/>
        </p:nvSpPr>
        <p:spPr>
          <a:xfrm>
            <a:off x="1280160" y="2587752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938528" y="2587752"/>
            <a:ext cx="5486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3" name="Text 71"/>
          <p:cNvSpPr/>
          <p:nvPr/>
        </p:nvSpPr>
        <p:spPr>
          <a:xfrm>
            <a:off x="1938528" y="2587752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514600" y="2587752"/>
            <a:ext cx="118872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5" name="Text 73"/>
          <p:cNvSpPr/>
          <p:nvPr/>
        </p:nvSpPr>
        <p:spPr>
          <a:xfrm>
            <a:off x="2514600" y="2587752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= 0.167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721608" y="2587752"/>
            <a:ext cx="86868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3721608" y="2587752"/>
            <a:ext cx="868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17720" y="2587752"/>
            <a:ext cx="10058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9" name="Text 77"/>
          <p:cNvSpPr/>
          <p:nvPr/>
        </p:nvSpPr>
        <p:spPr>
          <a:xfrm>
            <a:off x="4617720" y="2587752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WRONG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74320" y="2935224"/>
            <a:ext cx="2743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1" name="Text 79"/>
          <p:cNvSpPr/>
          <p:nvPr/>
        </p:nvSpPr>
        <p:spPr>
          <a:xfrm>
            <a:off x="274320" y="2935224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76072" y="2935224"/>
            <a:ext cx="6858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3" name="Text 81"/>
          <p:cNvSpPr/>
          <p:nvPr/>
        </p:nvSpPr>
        <p:spPr>
          <a:xfrm>
            <a:off x="576072" y="2935224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280160" y="2935224"/>
            <a:ext cx="6400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5" name="Text 83"/>
          <p:cNvSpPr/>
          <p:nvPr/>
        </p:nvSpPr>
        <p:spPr>
          <a:xfrm>
            <a:off x="1280160" y="2935224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938528" y="2935224"/>
            <a:ext cx="548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7" name="Text 85"/>
          <p:cNvSpPr/>
          <p:nvPr/>
        </p:nvSpPr>
        <p:spPr>
          <a:xfrm>
            <a:off x="1938528" y="2935224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514600" y="2935224"/>
            <a:ext cx="11887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9" name="Text 87"/>
          <p:cNvSpPr/>
          <p:nvPr/>
        </p:nvSpPr>
        <p:spPr>
          <a:xfrm>
            <a:off x="2514600" y="2935224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= 0.167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721608" y="2935224"/>
            <a:ext cx="8686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1" name="Text 89"/>
          <p:cNvSpPr/>
          <p:nvPr/>
        </p:nvSpPr>
        <p:spPr>
          <a:xfrm>
            <a:off x="3721608" y="2935224"/>
            <a:ext cx="868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617720" y="2935224"/>
            <a:ext cx="10058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3" name="Text 91"/>
          <p:cNvSpPr/>
          <p:nvPr/>
        </p:nvSpPr>
        <p:spPr>
          <a:xfrm>
            <a:off x="4617720" y="2935224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74320" y="3282696"/>
            <a:ext cx="27432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5" name="Text 93"/>
          <p:cNvSpPr/>
          <p:nvPr/>
        </p:nvSpPr>
        <p:spPr>
          <a:xfrm>
            <a:off x="274320" y="3282696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76072" y="3282696"/>
            <a:ext cx="68580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7" name="Text 95"/>
          <p:cNvSpPr/>
          <p:nvPr/>
        </p:nvSpPr>
        <p:spPr>
          <a:xfrm>
            <a:off x="576072" y="3282696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280160" y="3282696"/>
            <a:ext cx="64008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9" name="Text 97"/>
          <p:cNvSpPr/>
          <p:nvPr/>
        </p:nvSpPr>
        <p:spPr>
          <a:xfrm>
            <a:off x="1280160" y="3282696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938528" y="3282696"/>
            <a:ext cx="5486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1" name="Text 99"/>
          <p:cNvSpPr/>
          <p:nvPr/>
        </p:nvSpPr>
        <p:spPr>
          <a:xfrm>
            <a:off x="1938528" y="3282696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514600" y="3282696"/>
            <a:ext cx="118872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3" name="Text 101"/>
          <p:cNvSpPr/>
          <p:nvPr/>
        </p:nvSpPr>
        <p:spPr>
          <a:xfrm>
            <a:off x="2514600" y="3282696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= 0.167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721608" y="3282696"/>
            <a:ext cx="86868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5" name="Text 103"/>
          <p:cNvSpPr/>
          <p:nvPr/>
        </p:nvSpPr>
        <p:spPr>
          <a:xfrm>
            <a:off x="3721608" y="3282696"/>
            <a:ext cx="8686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617720" y="3282696"/>
            <a:ext cx="10058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7" name="Text 105"/>
          <p:cNvSpPr/>
          <p:nvPr/>
        </p:nvSpPr>
        <p:spPr>
          <a:xfrm>
            <a:off x="4617720" y="3282696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WRONG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760720" y="822960"/>
            <a:ext cx="3200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09" name="Text 107"/>
          <p:cNvSpPr/>
          <p:nvPr/>
        </p:nvSpPr>
        <p:spPr>
          <a:xfrm>
            <a:off x="585216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 Calculations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5806440" y="1234440"/>
            <a:ext cx="310896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1" name="Text 109"/>
          <p:cNvSpPr/>
          <p:nvPr/>
        </p:nvSpPr>
        <p:spPr>
          <a:xfrm>
            <a:off x="5852160" y="1261872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(ε)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040880" y="1261872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sum of weights of wrong predictions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0.167 + 0.167 = 0.333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806440" y="1947672"/>
            <a:ext cx="310896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4" name="Text 112"/>
          <p:cNvSpPr/>
          <p:nvPr/>
        </p:nvSpPr>
        <p:spPr>
          <a:xfrm>
            <a:off x="5852160" y="1975104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 (α)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040880" y="1975104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 × ln((1−ε)/ε)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0.5 × ln(2) ≈ 0.347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806440" y="2660904"/>
            <a:ext cx="310896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7" name="Text 115"/>
          <p:cNvSpPr/>
          <p:nvPr/>
        </p:nvSpPr>
        <p:spPr>
          <a:xfrm>
            <a:off x="5852160" y="2688336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 cases)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7040880" y="2688336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w_new = w_old × e^α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0.167 × e^0.347 ≈ 0.236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5806440" y="3374136"/>
            <a:ext cx="310896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0" name="Text 118"/>
          <p:cNvSpPr/>
          <p:nvPr/>
        </p:nvSpPr>
        <p:spPr>
          <a:xfrm>
            <a:off x="5852160" y="3401568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 cases)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040880" y="3401568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w_new = w_old × e^(−α)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0.167 × e^(−0.347) ≈ 0.118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806440" y="4087368"/>
            <a:ext cx="3108960" cy="658368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3" name="Text 121"/>
          <p:cNvSpPr/>
          <p:nvPr/>
        </p:nvSpPr>
        <p:spPr>
          <a:xfrm>
            <a:off x="5852160" y="4114800"/>
            <a:ext cx="1188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704088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all weights so they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to 1.0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274320" y="3794760"/>
            <a:ext cx="5349240" cy="4572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6" name="Text 124"/>
          <p:cNvSpPr/>
          <p:nvPr/>
        </p:nvSpPr>
        <p:spPr>
          <a:xfrm>
            <a:off x="411480" y="3822192"/>
            <a:ext cx="51206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Round 1: Wrong predictions (rows 4, 6) get HIGHER weights → next tree must focus on them!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274320" y="4343400"/>
            <a:ext cx="534924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next slide for Round 2 and how weight updates change the focus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AdaBoost Round 2: How Weights Change 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257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doesn't just 'notice' hard cases — weights change the Gini calculation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Deep Dive — AdaBoost Round 2 / undefined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weights after Round 1:  Rows 4 &amp; 6 (wrong) → 0.236 each   |   Rows 1,2,3,5 (correct) → 0.118 each   |   Total = 1.0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43584"/>
            <a:ext cx="4114800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320040" y="1243584"/>
            <a:ext cx="4023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Dataset with NEW Weights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536192"/>
            <a:ext cx="27432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274320" y="1536192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" y="1536192"/>
            <a:ext cx="64008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576072" y="1536192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34440" y="1536192"/>
            <a:ext cx="59436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1234440" y="1536192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47088" y="1536192"/>
            <a:ext cx="54864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1847088" y="1536192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1536192"/>
            <a:ext cx="68580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2423160" y="153619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27248" y="1536192"/>
            <a:ext cx="128016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3127248" y="1536192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weight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1883664"/>
            <a:ext cx="27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274320" y="1883664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" y="1883664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576072" y="1883664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34440" y="1883664"/>
            <a:ext cx="594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1234440" y="1883664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47088" y="1883664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1847088" y="1883664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23160" y="1883664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2423160" y="1883664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27248" y="1883664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3127248" y="1883664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231136"/>
            <a:ext cx="27432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274320" y="2231136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" y="2231136"/>
            <a:ext cx="64008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576072" y="2231136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34440" y="2231136"/>
            <a:ext cx="59436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1234440" y="2231136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47088" y="2231136"/>
            <a:ext cx="54864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1847088" y="2231136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23160" y="2231136"/>
            <a:ext cx="68580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2423160" y="2231136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27248" y="2231136"/>
            <a:ext cx="128016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3127248" y="2231136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578608"/>
            <a:ext cx="27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274320" y="2578608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" y="2578608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576072" y="2578608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34440" y="2578608"/>
            <a:ext cx="594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1234440" y="2578608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47088" y="25786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1847088" y="2578608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423160" y="2578608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2423160" y="2578608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127248" y="2578608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3127248" y="2578608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2926080"/>
            <a:ext cx="27432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274320" y="2926080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072" y="2926080"/>
            <a:ext cx="64008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576072" y="2926080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234440" y="2926080"/>
            <a:ext cx="5943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1234440" y="2926080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47088" y="2926080"/>
            <a:ext cx="54864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1847088" y="2926080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423160" y="2926080"/>
            <a:ext cx="6858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Text 67"/>
          <p:cNvSpPr/>
          <p:nvPr/>
        </p:nvSpPr>
        <p:spPr>
          <a:xfrm>
            <a:off x="2423160" y="2926080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0.236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127248" y="2926080"/>
            <a:ext cx="12801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1" name="Text 69"/>
          <p:cNvSpPr/>
          <p:nvPr/>
        </p:nvSpPr>
        <p:spPr>
          <a:xfrm>
            <a:off x="3127248" y="2926080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  ← was WRONG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" y="3273552"/>
            <a:ext cx="274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3" name="Text 71"/>
          <p:cNvSpPr/>
          <p:nvPr/>
        </p:nvSpPr>
        <p:spPr>
          <a:xfrm>
            <a:off x="274320" y="3273552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76072" y="3273552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5" name="Text 73"/>
          <p:cNvSpPr/>
          <p:nvPr/>
        </p:nvSpPr>
        <p:spPr>
          <a:xfrm>
            <a:off x="576072" y="3273552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234440" y="3273552"/>
            <a:ext cx="594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1234440" y="3273552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847088" y="3273552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9" name="Text 77"/>
          <p:cNvSpPr/>
          <p:nvPr/>
        </p:nvSpPr>
        <p:spPr>
          <a:xfrm>
            <a:off x="1847088" y="3273552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423160" y="3273552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1" name="Text 79"/>
          <p:cNvSpPr/>
          <p:nvPr/>
        </p:nvSpPr>
        <p:spPr>
          <a:xfrm>
            <a:off x="2423160" y="3273552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127248" y="3273552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3" name="Text 81"/>
          <p:cNvSpPr/>
          <p:nvPr/>
        </p:nvSpPr>
        <p:spPr>
          <a:xfrm>
            <a:off x="3127248" y="3273552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4320" y="3621024"/>
            <a:ext cx="27432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5" name="Text 83"/>
          <p:cNvSpPr/>
          <p:nvPr/>
        </p:nvSpPr>
        <p:spPr>
          <a:xfrm>
            <a:off x="274320" y="3621024"/>
            <a:ext cx="274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76072" y="3621024"/>
            <a:ext cx="64008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7" name="Text 85"/>
          <p:cNvSpPr/>
          <p:nvPr/>
        </p:nvSpPr>
        <p:spPr>
          <a:xfrm>
            <a:off x="576072" y="3621024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234440" y="3621024"/>
            <a:ext cx="5943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9" name="Text 87"/>
          <p:cNvSpPr/>
          <p:nvPr/>
        </p:nvSpPr>
        <p:spPr>
          <a:xfrm>
            <a:off x="1234440" y="3621024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847088" y="3621024"/>
            <a:ext cx="54864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1" name="Text 89"/>
          <p:cNvSpPr/>
          <p:nvPr/>
        </p:nvSpPr>
        <p:spPr>
          <a:xfrm>
            <a:off x="1847088" y="3621024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423160" y="3621024"/>
            <a:ext cx="6858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3" name="Text 91"/>
          <p:cNvSpPr/>
          <p:nvPr/>
        </p:nvSpPr>
        <p:spPr>
          <a:xfrm>
            <a:off x="2423160" y="3621024"/>
            <a:ext cx="685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0.236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127248" y="3621024"/>
            <a:ext cx="12801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5" name="Text 93"/>
          <p:cNvSpPr/>
          <p:nvPr/>
        </p:nvSpPr>
        <p:spPr>
          <a:xfrm>
            <a:off x="3127248" y="3621024"/>
            <a:ext cx="12801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  ← was WRONG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1243584"/>
            <a:ext cx="42062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7" name="Text 95"/>
          <p:cNvSpPr/>
          <p:nvPr/>
        </p:nvSpPr>
        <p:spPr>
          <a:xfrm>
            <a:off x="480060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Gini at Root Node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4800600" y="1664208"/>
            <a:ext cx="3931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Gini is now computed using WEIGHTS, not counts.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misclassified row with weight 0.236 counts more than a correct row with 0.118.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4800600" y="2240280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split: Income = High?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800600" y="2514600"/>
            <a:ext cx="393192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1" name="Text 99"/>
          <p:cNvSpPr/>
          <p:nvPr/>
        </p:nvSpPr>
        <p:spPr>
          <a:xfrm>
            <a:off x="4900000" y="2530000"/>
            <a:ext cx="3780000" cy="1230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branch (Income=High): rows 1,3,5
  Weights: 0.118, 0.118, 0.118  →  sum = 0.354
  Labels:  +, +, +  (all positive)
  Weighted Gini = 0  (pure!)
Right branch (Income=Low): rows 2,4,6
  Weights: 0.118, 0.236, 0.236  →  sum = 0.59
  + weight: 0 (none)   − weight: 0.59
  Weighted Gini = 0  (pure!)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800600" y="3794760"/>
            <a:ext cx="3931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3" name="Text 101"/>
          <p:cNvSpPr/>
          <p:nvPr/>
        </p:nvSpPr>
        <p:spPr>
          <a:xfrm>
            <a:off x="4846320" y="3794760"/>
            <a:ext cx="3840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Gini = 0.  Tree 2 splits on Income = perfect pure split!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4800600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this happen?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800600" y="4517136"/>
            <a:ext cx="39319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4 &amp; 6 (Low income, wrong in Round 1) now carry double the weight.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 'sees' them as much more important and builds a rule that correctly classifies them.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round, rows 4 &amp; 6 will have their weights REDUCED again.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299002" y="3980613"/>
            <a:ext cx="4114800" cy="138988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7" name="Text 105"/>
          <p:cNvSpPr/>
          <p:nvPr/>
        </p:nvSpPr>
        <p:spPr>
          <a:xfrm>
            <a:off x="436162" y="4026333"/>
            <a:ext cx="3840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Final Prediction: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74682" y="4415853"/>
            <a:ext cx="3800000" cy="700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 rule: Income=High → +,  Income=Low → −
Tree 2 error:  rows 2,3 (Low/+ and High/−)
ε₂ = 0.118 + 0.118 = 0.236
α₂ = 0.5 × ln((1−0.236)/0.236) ≈ 0.583
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α₂ &gt; α₁ (0.583 &gt; 0.347)  → Tree 2 gets MORE vote weight!
</a:t>
            </a:r>
            <a:r>
              <a:rPr lang="en-US" sz="9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 = louder vote. That's AdaBoost.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AdaBoost — Weight Evolution Across Rounds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predictions grow in importance until they're corrected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18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weights change across 3 rounds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365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274320" y="1115568"/>
            <a:ext cx="365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1115568"/>
            <a:ext cx="548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667512" y="1115568"/>
            <a:ext cx="5486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34440" y="1115568"/>
            <a:ext cx="12344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1234440" y="1115568"/>
            <a:ext cx="1234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(equal)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87168" y="1115568"/>
            <a:ext cx="13716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2487168" y="1115568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(wrongs ↑)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77056" y="1115568"/>
            <a:ext cx="13716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3877056" y="1115568"/>
            <a:ext cx="1371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wrongs ↑)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66944" y="1115568"/>
            <a:ext cx="10058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5266944" y="1115568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517904"/>
            <a:ext cx="36576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274320" y="1517904"/>
            <a:ext cx="365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" y="1517904"/>
            <a:ext cx="548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667512" y="1517904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34440" y="1517904"/>
            <a:ext cx="12344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1234440" y="1517904"/>
            <a:ext cx="1234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87168" y="1517904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2487168" y="1517904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77056" y="1517904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3877056" y="1517904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66944" y="1517904"/>
            <a:ext cx="10058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5266944" y="1517904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1865376"/>
            <a:ext cx="365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274320" y="1865376"/>
            <a:ext cx="365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7512" y="1865376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667512" y="1865376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34440" y="1865376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1234440" y="1865376"/>
            <a:ext cx="1234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87168" y="186537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2487168" y="1865376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77056" y="186537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3877056" y="1865376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66944" y="186537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5266944" y="1865376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2212848"/>
            <a:ext cx="365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274320" y="2212848"/>
            <a:ext cx="365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7512" y="221284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667512" y="2212848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234440" y="221284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1234440" y="2212848"/>
            <a:ext cx="1234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487168" y="2212848"/>
            <a:ext cx="13716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2487168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77056" y="2212848"/>
            <a:ext cx="13716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3877056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266944" y="2212848"/>
            <a:ext cx="100584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5266944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2560320"/>
            <a:ext cx="365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274320" y="2560320"/>
            <a:ext cx="365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67512" y="2560320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667512" y="2560320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234440" y="2560320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1234440" y="2560320"/>
            <a:ext cx="1234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487168" y="256032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2487168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0.236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877056" y="256032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3877056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266944" y="256032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Text 67"/>
          <p:cNvSpPr/>
          <p:nvPr/>
        </p:nvSpPr>
        <p:spPr>
          <a:xfrm>
            <a:off x="5266944" y="2560320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" y="2907792"/>
            <a:ext cx="36576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1" name="Text 69"/>
          <p:cNvSpPr/>
          <p:nvPr/>
        </p:nvSpPr>
        <p:spPr>
          <a:xfrm>
            <a:off x="274320" y="2907792"/>
            <a:ext cx="365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67512" y="2907792"/>
            <a:ext cx="5486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3" name="Text 71"/>
          <p:cNvSpPr/>
          <p:nvPr/>
        </p:nvSpPr>
        <p:spPr>
          <a:xfrm>
            <a:off x="667512" y="2907792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234440" y="2907792"/>
            <a:ext cx="12344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5" name="Text 73"/>
          <p:cNvSpPr/>
          <p:nvPr/>
        </p:nvSpPr>
        <p:spPr>
          <a:xfrm>
            <a:off x="1234440" y="2907792"/>
            <a:ext cx="1234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487168" y="2907792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2487168" y="2907792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877056" y="2907792"/>
            <a:ext cx="137160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9" name="Text 77"/>
          <p:cNvSpPr/>
          <p:nvPr/>
        </p:nvSpPr>
        <p:spPr>
          <a:xfrm>
            <a:off x="3877056" y="2907792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266944" y="2907792"/>
            <a:ext cx="100584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1" name="Text 79"/>
          <p:cNvSpPr/>
          <p:nvPr/>
        </p:nvSpPr>
        <p:spPr>
          <a:xfrm>
            <a:off x="5266944" y="2907792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4320" y="3255264"/>
            <a:ext cx="365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3" name="Text 81"/>
          <p:cNvSpPr/>
          <p:nvPr/>
        </p:nvSpPr>
        <p:spPr>
          <a:xfrm>
            <a:off x="274320" y="3255264"/>
            <a:ext cx="365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67512" y="3255264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5" name="Text 83"/>
          <p:cNvSpPr/>
          <p:nvPr/>
        </p:nvSpPr>
        <p:spPr>
          <a:xfrm>
            <a:off x="667512" y="3255264"/>
            <a:ext cx="5486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234440" y="3255264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7" name="Text 85"/>
          <p:cNvSpPr/>
          <p:nvPr/>
        </p:nvSpPr>
        <p:spPr>
          <a:xfrm>
            <a:off x="1234440" y="3255264"/>
            <a:ext cx="1234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487168" y="3255264"/>
            <a:ext cx="13716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9" name="Text 87"/>
          <p:cNvSpPr/>
          <p:nvPr/>
        </p:nvSpPr>
        <p:spPr>
          <a:xfrm>
            <a:off x="2487168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0.236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877056" y="3255264"/>
            <a:ext cx="137160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1" name="Text 89"/>
          <p:cNvSpPr/>
          <p:nvPr/>
        </p:nvSpPr>
        <p:spPr>
          <a:xfrm>
            <a:off x="3877056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266944" y="3255264"/>
            <a:ext cx="100584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3" name="Text 91"/>
          <p:cNvSpPr/>
          <p:nvPr/>
        </p:nvSpPr>
        <p:spPr>
          <a:xfrm>
            <a:off x="5266944" y="3255264"/>
            <a:ext cx="1005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492240" y="822960"/>
            <a:ext cx="23774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5" name="Text 93"/>
          <p:cNvSpPr/>
          <p:nvPr/>
        </p:nvSpPr>
        <p:spPr>
          <a:xfrm>
            <a:off x="6583680" y="868680"/>
            <a:ext cx="21945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Visualization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(Round 3)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537960" y="1371600"/>
            <a:ext cx="493319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7" name="Text 95"/>
          <p:cNvSpPr/>
          <p:nvPr/>
        </p:nvSpPr>
        <p:spPr>
          <a:xfrm>
            <a:off x="7076999" y="1389888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0.083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537960" y="1719072"/>
            <a:ext cx="493319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9" name="Text 97"/>
          <p:cNvSpPr/>
          <p:nvPr/>
        </p:nvSpPr>
        <p:spPr>
          <a:xfrm>
            <a:off x="7076999" y="1737360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2: 0.083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537960" y="2066544"/>
            <a:ext cx="140269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1" name="Text 99"/>
          <p:cNvSpPr/>
          <p:nvPr/>
        </p:nvSpPr>
        <p:spPr>
          <a:xfrm>
            <a:off x="798637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3: 0.236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537960" y="2414016"/>
            <a:ext cx="992581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3" name="Text 101"/>
          <p:cNvSpPr/>
          <p:nvPr/>
        </p:nvSpPr>
        <p:spPr>
          <a:xfrm>
            <a:off x="7576261" y="2432304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4: 0.167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537960" y="2761488"/>
            <a:ext cx="493319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5" name="Text 103"/>
          <p:cNvSpPr/>
          <p:nvPr/>
        </p:nvSpPr>
        <p:spPr>
          <a:xfrm>
            <a:off x="7076999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5: 0.083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537960" y="3108960"/>
            <a:ext cx="2062429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7" name="Text 105"/>
          <p:cNvSpPr/>
          <p:nvPr/>
        </p:nvSpPr>
        <p:spPr>
          <a:xfrm>
            <a:off x="8646109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6: 0.347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65176" y="3675888"/>
            <a:ext cx="8595360" cy="11887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9" name="Text 107"/>
          <p:cNvSpPr/>
          <p:nvPr/>
        </p:nvSpPr>
        <p:spPr>
          <a:xfrm>
            <a:off x="41148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Formula Summary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411480" y="4005072"/>
            <a:ext cx="8229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sign( α₁·h₁(x) + α₂·h₂(x) + α₃·h₃(x) 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αᵢ = model weight (higher α = better model got more say)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hᵢ(x) = weak model i's prediction (+1 or −1)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sign() converts the sum to a class label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265176" y="4884111"/>
            <a:ext cx="85953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2" name="Text 110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 model with lower error gets a HIGHER α (more vote weight). As error → 0, α grows very large. A model at random chance (50%) gets α = 0.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Gradient Boosting? When Random Forest Isn't Enough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8107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variance reduction to bias reduction — a different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new /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475488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109728" cy="47548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75488" y="850392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deployed Random Forest on BankEU. AUC = 0.84. Your manager says the regulator wants 0.90+.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with 500 trees gives 0.845. Adding more trees doesn't help. You've hit RF's ceiling.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420624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411480" y="1435608"/>
            <a:ext cx="3977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Random Forest Has a Ceiling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4023360" cy="877824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37490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trees are equally weighted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3749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that gets 70% accuracy votes the same as one that gets 90%. Good and bad trees cancel each other out less efficiently.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4023360" cy="877824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502920" y="2807208"/>
            <a:ext cx="37490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trained independently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3749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50 doesn't know Tree 49 already handles high-income cases well. It wastes capacity redoing the same work.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30752"/>
            <a:ext cx="4023360" cy="877824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502920" y="3767328"/>
            <a:ext cx="374904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reduces variance, not bias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trees are slightly wrong in the same direction (systematic bias), averaging doesn't fix it — it just gives you the average wrong answer.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3456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800600" y="1435608"/>
            <a:ext cx="3977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Gradient Boosting Fixes This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10512"/>
            <a:ext cx="4069080" cy="877824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4892040" y="1847088"/>
            <a:ext cx="379476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targets the RESIDUAL errors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103120"/>
            <a:ext cx="3794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 doesn't learn the whole problem — it only learns to predict what Tree 1 got WRONG. Maximum efficiency: no repeated work.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770632"/>
            <a:ext cx="4069080" cy="877824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892040" y="2807208"/>
            <a:ext cx="379476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contributes an additive correction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3063240"/>
            <a:ext cx="3794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tree is scaled by a learning rate η. No voting — just additive corrections, each one reducing the remaining error by a small step.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30752"/>
            <a:ext cx="4069080" cy="877824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4892040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each tree makes the previous smarter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023360"/>
            <a:ext cx="3794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200 trees, the ensemble has specialised models for every tricky region of the data. RF's 200 trees all try to solve the whole problem.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411480" y="4919472"/>
            <a:ext cx="8412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RF first (fast, stable baseline)  →  if you need more accuracy: XGBoost  →  if you need speed on big data: LightGBM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Boosting: Fit the Residuals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8540" y="5074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the ERRORS (residuals) of all previous trees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19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4864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5394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Predict loan amount (€) from income level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2926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274320" y="1143000"/>
            <a:ext cx="2926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1143000"/>
            <a:ext cx="7315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594360" y="1143000"/>
            <a:ext cx="7315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44168" y="1143000"/>
            <a:ext cx="9601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1344168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(€)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31720" y="1143000"/>
            <a:ext cx="1188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2331720" y="1143000"/>
            <a:ext cx="1188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 = 23k)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38728" y="1143000"/>
            <a:ext cx="11887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3538728" y="1143000"/>
            <a:ext cx="1188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 − pred)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45736" y="1143000"/>
            <a:ext cx="10972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745736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61304" y="1143000"/>
            <a:ext cx="10972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5861304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(R0 + T2)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1618488"/>
            <a:ext cx="292608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274320" y="1618488"/>
            <a:ext cx="292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1618488"/>
            <a:ext cx="731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594360" y="1618488"/>
            <a:ext cx="731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44168" y="1618488"/>
            <a:ext cx="9601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1344168" y="1618488"/>
            <a:ext cx="9601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1618488"/>
            <a:ext cx="11887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2331720" y="1618488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38728" y="1618488"/>
            <a:ext cx="11887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3538728" y="1618488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45736" y="1618488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4745736" y="1618488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61304" y="1618488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5861304" y="1618488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1965960"/>
            <a:ext cx="29260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274320" y="1965960"/>
            <a:ext cx="292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1965960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594360" y="1965960"/>
            <a:ext cx="731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44168" y="196596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1344168" y="1965960"/>
            <a:ext cx="9601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31720" y="19659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2331720" y="1965960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38728" y="1965960"/>
            <a:ext cx="11887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3538728" y="1965960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45736" y="196596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4745736" y="1965960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61304" y="196596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5861304" y="1965960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2313432"/>
            <a:ext cx="292608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274320" y="2313432"/>
            <a:ext cx="292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" y="2313432"/>
            <a:ext cx="731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594360" y="2313432"/>
            <a:ext cx="731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344168" y="2313432"/>
            <a:ext cx="9601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1344168" y="2313432"/>
            <a:ext cx="9601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331720" y="2313432"/>
            <a:ext cx="11887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2331720" y="2313432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538728" y="2313432"/>
            <a:ext cx="11887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3538728" y="2313432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45736" y="2313432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4745736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+2k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861304" y="2313432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5861304" y="2313432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2660904"/>
            <a:ext cx="29260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274320" y="2660904"/>
            <a:ext cx="292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94360" y="2660904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Text 67"/>
          <p:cNvSpPr/>
          <p:nvPr/>
        </p:nvSpPr>
        <p:spPr>
          <a:xfrm>
            <a:off x="594360" y="2660904"/>
            <a:ext cx="731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344168" y="2660904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1" name="Text 69"/>
          <p:cNvSpPr/>
          <p:nvPr/>
        </p:nvSpPr>
        <p:spPr>
          <a:xfrm>
            <a:off x="1344168" y="2660904"/>
            <a:ext cx="9601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28k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331720" y="2660904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3" name="Text 71"/>
          <p:cNvSpPr/>
          <p:nvPr/>
        </p:nvSpPr>
        <p:spPr>
          <a:xfrm>
            <a:off x="2331720" y="2660904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538728" y="2660904"/>
            <a:ext cx="11887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5" name="Text 73"/>
          <p:cNvSpPr/>
          <p:nvPr/>
        </p:nvSpPr>
        <p:spPr>
          <a:xfrm>
            <a:off x="3538728" y="2660904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+5k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45736" y="2660904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4745736" y="2660904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+6k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861304" y="2660904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9" name="Text 77"/>
          <p:cNvSpPr/>
          <p:nvPr/>
        </p:nvSpPr>
        <p:spPr>
          <a:xfrm>
            <a:off x="5861304" y="2660904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4320" y="3008376"/>
            <a:ext cx="292608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1" name="Text 79"/>
          <p:cNvSpPr/>
          <p:nvPr/>
        </p:nvSpPr>
        <p:spPr>
          <a:xfrm>
            <a:off x="274320" y="3008376"/>
            <a:ext cx="2926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94360" y="3008376"/>
            <a:ext cx="731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3" name="Text 81"/>
          <p:cNvSpPr/>
          <p:nvPr/>
        </p:nvSpPr>
        <p:spPr>
          <a:xfrm>
            <a:off x="594360" y="3008376"/>
            <a:ext cx="731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344168" y="3008376"/>
            <a:ext cx="9601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5" name="Text 83"/>
          <p:cNvSpPr/>
          <p:nvPr/>
        </p:nvSpPr>
        <p:spPr>
          <a:xfrm>
            <a:off x="1344168" y="3008376"/>
            <a:ext cx="9601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331720" y="3008376"/>
            <a:ext cx="11887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7" name="Text 85"/>
          <p:cNvSpPr/>
          <p:nvPr/>
        </p:nvSpPr>
        <p:spPr>
          <a:xfrm>
            <a:off x="2331720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538728" y="3008376"/>
            <a:ext cx="11887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9" name="Text 87"/>
          <p:cNvSpPr/>
          <p:nvPr/>
        </p:nvSpPr>
        <p:spPr>
          <a:xfrm>
            <a:off x="3538728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+12k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745736" y="3008376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1" name="Text 89"/>
          <p:cNvSpPr/>
          <p:nvPr/>
        </p:nvSpPr>
        <p:spPr>
          <a:xfrm>
            <a:off x="4745736" y="3008376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+11k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861304" y="3008376"/>
            <a:ext cx="109728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3" name="Text 91"/>
          <p:cNvSpPr/>
          <p:nvPr/>
        </p:nvSpPr>
        <p:spPr>
          <a:xfrm>
            <a:off x="5861304" y="3008376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040880" y="822960"/>
            <a:ext cx="1920240" cy="34747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5" name="Text 93"/>
          <p:cNvSpPr/>
          <p:nvPr/>
        </p:nvSpPr>
        <p:spPr>
          <a:xfrm>
            <a:off x="7132320" y="868680"/>
            <a:ext cx="17373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happening?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086600" y="1261872"/>
            <a:ext cx="178308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7" name="Text 95"/>
          <p:cNvSpPr/>
          <p:nvPr/>
        </p:nvSpPr>
        <p:spPr>
          <a:xfrm>
            <a:off x="7132320" y="1280160"/>
            <a:ext cx="169164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Round 0: Predict the mean (€23k) for everyone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086600" y="1828800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9" name="Text 97"/>
          <p:cNvSpPr/>
          <p:nvPr/>
        </p:nvSpPr>
        <p:spPr>
          <a:xfrm>
            <a:off x="7132320" y="1847088"/>
            <a:ext cx="169164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Calculate residuals = errors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086600" y="2395728"/>
            <a:ext cx="178308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1" name="Text 99"/>
          <p:cNvSpPr/>
          <p:nvPr/>
        </p:nvSpPr>
        <p:spPr>
          <a:xfrm>
            <a:off x="7132320" y="2414016"/>
            <a:ext cx="169164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Tree 2 learns to predict those RESIDUALS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086600" y="2962656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3" name="Text 101"/>
          <p:cNvSpPr/>
          <p:nvPr/>
        </p:nvSpPr>
        <p:spPr>
          <a:xfrm>
            <a:off x="7132320" y="2980944"/>
            <a:ext cx="169164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New prediction = old + η × tree2 (this example uses η=1 for clarity)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086600" y="3529584"/>
            <a:ext cx="178308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5" name="Text 103"/>
          <p:cNvSpPr/>
          <p:nvPr/>
        </p:nvSpPr>
        <p:spPr>
          <a:xfrm>
            <a:off x="7132320" y="3547872"/>
            <a:ext cx="169164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Repeat — each tree reduces remaining error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7" name="Shape 105"/>
          <p:cNvSpPr/>
          <p:nvPr/>
        </p:nvSpPr>
        <p:spPr>
          <a:xfrm>
            <a:off x="274320" y="4343400"/>
            <a:ext cx="109728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8" name="Text 106"/>
          <p:cNvSpPr/>
          <p:nvPr/>
        </p:nvSpPr>
        <p:spPr>
          <a:xfrm>
            <a:off x="502920" y="4370832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F_m(x) = F_{m-1}(x) + η · h_m(x)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η = learning rate (typically 0.01–0.3 in practice; η=1 above for illustration), h_m = new tree fitted on residuals, F_m = updated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It Called GRADIENT Boosting?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4391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not arbitrary — they are the gradient of the loss function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Deep Dive — The Gradient in Gradient Boosting / undefined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029200" cy="431596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4800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Connection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846320" cy="7955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347472" cy="7955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365760" y="1261872"/>
            <a:ext cx="347472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1289304"/>
            <a:ext cx="4343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a Loss Function (MSE)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563624"/>
            <a:ext cx="4343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minimise:   L(y, F) = ½(y − F)²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 = true value, F = our current prediction.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½ is just for clean derivatives.)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12264"/>
            <a:ext cx="4846320" cy="79552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Shape 14"/>
          <p:cNvSpPr/>
          <p:nvPr/>
        </p:nvSpPr>
        <p:spPr>
          <a:xfrm>
            <a:off x="365760" y="2112264"/>
            <a:ext cx="347472" cy="7955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365760" y="2112264"/>
            <a:ext cx="347472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2139696"/>
            <a:ext cx="4343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the Gradient of L w.r.t. 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414016"/>
            <a:ext cx="4343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∂L/∂F  =  ∂[½(y−F)²]/∂F  =  −(y − F)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derivative: 'which direction and how far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F move to reduce the loss?'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4846320" cy="79552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Shape 19"/>
          <p:cNvSpPr/>
          <p:nvPr/>
        </p:nvSpPr>
        <p:spPr>
          <a:xfrm>
            <a:off x="365760" y="2962656"/>
            <a:ext cx="347472" cy="795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365760" y="2962656"/>
            <a:ext cx="347472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2990088"/>
            <a:ext cx="4343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Negative Gradient IS the Residual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264408"/>
            <a:ext cx="4343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−∂L/∂F  =  y − F  =  residual !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fit a tree on (y − F_prev), we are fitting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GRADIENT of the loss.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gradient DESCENT on the loss function.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13048"/>
            <a:ext cx="4846320" cy="7955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347472" cy="7955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365760" y="3813048"/>
            <a:ext cx="347472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840480"/>
            <a:ext cx="4343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Rule = Gradient Descent Step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114800"/>
            <a:ext cx="43434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F_new = F_old + η × (−gradient)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F_old + η × (y − F_old)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F_old + η × residual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is the learning rate — step size in gradient descent.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822960"/>
            <a:ext cx="3291840" cy="23317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5715000" y="86868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15000" y="1261872"/>
            <a:ext cx="30632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MSE loss: the gradient is just the residual — simple and intuitive.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'Gradient' in the name means we can swap the loss function: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Log-loss → classification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MAE → robust to outliers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loss → business-specific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stays the same. Only the pseudo-residuals change.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uses second-order gradients (Hessian) for even better convergence — see next deep dive.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77840" y="3246120"/>
            <a:ext cx="32918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4" name="Text 32"/>
          <p:cNvSpPr/>
          <p:nvPr/>
        </p:nvSpPr>
        <p:spPr>
          <a:xfrm>
            <a:off x="5715000" y="3291840"/>
            <a:ext cx="3063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Concrete Numbers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3620000"/>
            <a:ext cx="3063240" cy="1440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y=15k, F₀=23k
Loss: ½(15−23)² = 32
Gradient: −(15−23) = +8  →  F is too high, push DOWN
Residual: 15−23 = −8  ✓  Same!
F₁ = 23 + 0.1 × (−8) = 22.2k
</a:t>
            </a: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loss: ½(15−22.2)² = 25.9  &lt; 32  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864608"/>
            <a:ext cx="8595360" cy="29260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Shape 35"/>
          <p:cNvSpPr/>
          <p:nvPr/>
        </p:nvSpPr>
        <p:spPr>
          <a:xfrm>
            <a:off x="274320" y="4864608"/>
            <a:ext cx="109728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8" name="Text 36"/>
          <p:cNvSpPr/>
          <p:nvPr/>
        </p:nvSpPr>
        <p:spPr>
          <a:xfrm>
            <a:off x="502920" y="4882896"/>
            <a:ext cx="8229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Fitting trees on residuals = gradient descent in function space. The learning rate η is the step size. More trees = more steps toward minimum loss.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Boosting: Learning Rate &amp; Overfitting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74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tradeoff: speed vs. generalization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21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Rate (η) Explained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023360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9601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1.0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fast)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298448"/>
            <a:ext cx="2103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100% of the error. Aggressive, can overfit training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389888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3566160" y="1389888"/>
            <a:ext cx="731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Too risky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23360" cy="93268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11480" y="2322576"/>
            <a:ext cx="9601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(recommended)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322576"/>
            <a:ext cx="2103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only 10%. Needs more trees but generalizes better.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414016"/>
            <a:ext cx="7315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3566160" y="2414016"/>
            <a:ext cx="731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this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4023360" cy="932688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411480" y="3346704"/>
            <a:ext cx="9601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slow)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346704"/>
            <a:ext cx="2103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only 1%. Needs thousands of trees. Very slow.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3438144"/>
            <a:ext cx="7315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3566160" y="3438144"/>
            <a:ext cx="731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Too slow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4434840"/>
            <a:ext cx="4251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Lower η → need more n_estimators. Use early stopping to find the sweet spot automatically.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804672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489204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Stopping (Essential!)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1261872"/>
            <a:ext cx="3840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error always goes down.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goes down... then up!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validation error starts rising.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4846320" y="3703320"/>
            <a:ext cx="39319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XGBoost with early stopping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 = XGBClassifier(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n_estimators=1000,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learning_rate=0.05,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early_stopping_rounds=20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xgb.fit(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X_train, y_train,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eval_set=[(X_val, y_val)],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verbose=False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stops before overfitting!</a:t>
            </a:r>
            <a:endParaRPr lang="en-US" sz="800" dirty="0"/>
          </a:p>
        </p:txBody>
      </p:sp>
      <p:pic>
        <p:nvPicPr>
          <p:cNvPr id="1026" name="Picture 2" descr="Regularization by Early Stopping - GeeksforGeeks">
            <a:extLst>
              <a:ext uri="{FF2B5EF4-FFF2-40B4-BE49-F238E27FC236}">
                <a16:creationId xmlns:a16="http://schemas.microsoft.com/office/drawing/2014/main" id="{F6B34651-065F-B73A-97EB-75277107F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840" y="1810136"/>
            <a:ext cx="1961623" cy="182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&amp; LightGBM: Why Industry Uses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regularization + engineering = state of the 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22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Code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283464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27432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(sklearn)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educational, slow on large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25603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 to understand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25603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Slow, no GPU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73552"/>
            <a:ext cx="2834640" cy="144475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365760" y="3310128"/>
            <a:ext cx="2651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GradientBoostingClassifier(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n_estimators=100,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learning_rate=0.1,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max_depth=3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46120" y="82296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3246120" y="822960"/>
            <a:ext cx="283464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324612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L1+L2 regularization, second-order gradients, parallel splits, pruning.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194560"/>
            <a:ext cx="25603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34290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Fast, accurate, handles missing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788920"/>
            <a:ext cx="25603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34290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Many hyperparams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273552"/>
            <a:ext cx="2834640" cy="144475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3337560" y="3310128"/>
            <a:ext cx="2651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XGBClassifier(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n_estimators=300,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learning_rate=0.05,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max_depth=5,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reg_alpha=0.1,  # L1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reg_lambda=1.0  # L2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17920" y="82296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9" name="Shape 27"/>
          <p:cNvSpPr/>
          <p:nvPr/>
        </p:nvSpPr>
        <p:spPr>
          <a:xfrm>
            <a:off x="6217920" y="822960"/>
            <a:ext cx="28346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621792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instead of level-wise. Histogram-based splits. Fastest.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2194560"/>
            <a:ext cx="25603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640080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Often substantially faster than XGBoost on large datasets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2788920"/>
            <a:ext cx="25603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64008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 overfit on small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273552"/>
            <a:ext cx="2834640" cy="1444752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6309360" y="3310128"/>
            <a:ext cx="2651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LGBMClassifier(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n_estimators=300,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learning_rate=0.05,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num_leaves=31,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min_child_samples=20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83210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default: Try XGBoost or LightGBM first. They outperform sklearn's GradientBoosting on most real datasets.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XGBoost: The Objective Function — Full Math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83464" y="51206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Regularization — why this makes XGBoost better than plain Gradient Boosting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Deep Dive — XGBoost Objective / undefined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— Mathematics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Obj(θ) = Σᵢ L(yᵢ, ŷᵢ) + Σₖ Ω(fₖ)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(fit the data)     +     Regularization (keep the model simple)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150876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1463040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292608" y="1627632"/>
            <a:ext cx="1426464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Σᵢ L(yᵢ, ŷᵢ)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" y="2286000"/>
            <a:ext cx="1426464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1700784"/>
            <a:ext cx="4114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all N training examples of the loss between true label yᵢ and prediction ŷᵢ.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regression: MSE = Σ(yᵢ − ŷᵢ)²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classification: Log-loss = −Σ[yᵢlog(ŷᵢ) + (1−yᵢ)log(1−ŷᵢ)]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947672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6126480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231136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predictions toward the truth. Lower = better fit.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8595360" cy="150876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146304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292608" y="3255264"/>
            <a:ext cx="1426464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Σₖ Ω(fₖ)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2608" y="3913632"/>
            <a:ext cx="1426464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Term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328416"/>
            <a:ext cx="411480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all K trees. For each tree: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Ω(f) = γT + ½λΣⱼwⱼ²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penalty per leaf (T = number of leaves)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L2 penalty on leaf weights wⱼ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L1 penalty (makes some weights exactly 0)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575304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612648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complexity. Forces trees to be smaller and weights to be smaller.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754880"/>
            <a:ext cx="4114800" cy="384048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Shape 26"/>
          <p:cNvSpPr/>
          <p:nvPr/>
        </p:nvSpPr>
        <p:spPr>
          <a:xfrm>
            <a:off x="274320" y="4754880"/>
            <a:ext cx="109728" cy="38404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502920" y="4773168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regularization: XGBoost builds fewer, simpler trees that generalise better.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γ&gt;0 forces pruning. λ&gt;0 shrinks leaf scores toward zero — like weight decay in neural nets.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4754880"/>
            <a:ext cx="4343400" cy="384048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4526280" y="4754880"/>
            <a:ext cx="109728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4754880" y="4773168"/>
            <a:ext cx="4069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Gradient Boosting has NO Ω term — it's just Σ L(yᵢ, ŷᵢ).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penalty on complexity, it will keep growing trees until it overfits.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 vs Boosting: Why Does the Distinction Matter?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257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ensemble strategies solving two completely different problems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new /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109728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475488" y="850392"/>
            <a:ext cx="8321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Two Ways to Build a Better Hiring 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115568"/>
            <a:ext cx="8321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Ask 100 interviewers to evaluate the same candidate independently and vote. Good because no single interviewer's bias dominates.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Boosting: Run 5 rounds of interviews. Each round focuses on the specific gaps the last round missed. Good because each round builds on the last.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420624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Shape 11"/>
          <p:cNvSpPr/>
          <p:nvPr/>
        </p:nvSpPr>
        <p:spPr>
          <a:xfrm>
            <a:off x="274320" y="1719072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365760" y="1728216"/>
            <a:ext cx="404164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 / Random Forest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4023360" cy="27432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38912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Solves: OVERFITTING (high variance)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40233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see these symptoms: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715768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Your model scores 99% train, 75% test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990088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Small changes to training data flip predictions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have lots of noisy or mislabelled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40233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13048"/>
            <a:ext cx="402336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38912" y="3822192"/>
            <a:ext cx="391363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train 100 uncorrelated trees,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their votes.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315968"/>
            <a:ext cx="420624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365760" y="4315968"/>
            <a:ext cx="40416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92%   Test: 89%  ← the gap closes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719072"/>
            <a:ext cx="4206240" cy="347472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709160" y="1719072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800600" y="1728216"/>
            <a:ext cx="404164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 (AdaBoost / XGBoost)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121408"/>
            <a:ext cx="4023360" cy="2743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4873752" y="2130552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Solves: UNDERFITTING (high bias)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468880"/>
            <a:ext cx="40233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see these symptoms: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715768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 accuracy is 75%, test is 74% — both bad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2990088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Adding more features doesn't help much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264408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need every % of accuracy you can get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566160"/>
            <a:ext cx="40233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813048"/>
            <a:ext cx="402336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4873752" y="3822192"/>
            <a:ext cx="391363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500 sequential trees, each one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the previous one's mistakes.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4315968"/>
            <a:ext cx="42062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4800600" y="4315968"/>
            <a:ext cx="404164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95%   Test: 91%  ← higher overall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1E1B4B">
                <a:alpha val="8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41" name="Shape 39"/>
          <p:cNvSpPr/>
          <p:nvPr/>
        </p:nvSpPr>
        <p:spPr>
          <a:xfrm>
            <a:off x="274320" y="4919472"/>
            <a:ext cx="109728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42" name="Text 40"/>
          <p:cNvSpPr/>
          <p:nvPr/>
        </p:nvSpPr>
        <p:spPr>
          <a:xfrm>
            <a:off x="475488" y="4928616"/>
            <a:ext cx="8321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slide: the full head-to-head comparison table so you always know which one to reach for.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 vs Boosting: Complete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strategies, two problems they solve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24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4023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822960"/>
            <a:ext cx="3291840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2350008" y="82296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/ Random Forest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14416" y="822960"/>
            <a:ext cx="32918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5660136" y="82296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(AdaBoost / XGBoost)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320040" y="123444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04288" y="123444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2350008" y="123444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— trees are independent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14416" y="123444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5660136" y="123444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each tree depends on previous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64592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32004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04288" y="164592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2350008" y="164592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(overfit)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14416" y="164592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5660136" y="164592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(underfit)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5740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320040" y="205740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04288" y="205740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7" name="Text 25"/>
          <p:cNvSpPr/>
          <p:nvPr/>
        </p:nvSpPr>
        <p:spPr>
          <a:xfrm>
            <a:off x="2350008" y="205740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deep trees (low bias)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14416" y="205740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9" name="Text 27"/>
          <p:cNvSpPr/>
          <p:nvPr/>
        </p:nvSpPr>
        <p:spPr>
          <a:xfrm>
            <a:off x="5660136" y="205740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/ stumps (weak learners)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46888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1" name="Text 29"/>
          <p:cNvSpPr/>
          <p:nvPr/>
        </p:nvSpPr>
        <p:spPr>
          <a:xfrm>
            <a:off x="320040" y="246888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04288" y="246888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2350008" y="246888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vote for all trees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14416" y="246888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5" name="Text 33"/>
          <p:cNvSpPr/>
          <p:nvPr/>
        </p:nvSpPr>
        <p:spPr>
          <a:xfrm>
            <a:off x="5660136" y="246888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AdaBoost: weighted by accuracy (α); GB: additive steps scaled by η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88036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320040" y="288036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04288" y="288036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Text 37"/>
          <p:cNvSpPr/>
          <p:nvPr/>
        </p:nvSpPr>
        <p:spPr>
          <a:xfrm>
            <a:off x="2350008" y="288036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(averaging reduces it)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14416" y="288036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1" name="Text 39"/>
          <p:cNvSpPr/>
          <p:nvPr/>
        </p:nvSpPr>
        <p:spPr>
          <a:xfrm>
            <a:off x="5660136" y="288036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needs regularization / early stop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29184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3" name="Text 41"/>
          <p:cNvSpPr/>
          <p:nvPr/>
        </p:nvSpPr>
        <p:spPr>
          <a:xfrm>
            <a:off x="320040" y="329184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04288" y="329184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5" name="Text 43"/>
          <p:cNvSpPr/>
          <p:nvPr/>
        </p:nvSpPr>
        <p:spPr>
          <a:xfrm>
            <a:off x="2350008" y="329184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(parallel)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14416" y="329184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7" name="Text 45"/>
          <p:cNvSpPr/>
          <p:nvPr/>
        </p:nvSpPr>
        <p:spPr>
          <a:xfrm>
            <a:off x="5660136" y="329184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(sequential)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70332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320040" y="370332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04288" y="370332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1" name="Text 49"/>
          <p:cNvSpPr/>
          <p:nvPr/>
        </p:nvSpPr>
        <p:spPr>
          <a:xfrm>
            <a:off x="2350008" y="370332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14416" y="370332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5660136" y="370332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+ SHAP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11480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Text 53"/>
          <p:cNvSpPr/>
          <p:nvPr/>
        </p:nvSpPr>
        <p:spPr>
          <a:xfrm>
            <a:off x="320040" y="411480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04288" y="41148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7" name="Text 55"/>
          <p:cNvSpPr/>
          <p:nvPr/>
        </p:nvSpPr>
        <p:spPr>
          <a:xfrm>
            <a:off x="2350008" y="411480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imputation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14416" y="41148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9" name="Text 57"/>
          <p:cNvSpPr/>
          <p:nvPr/>
        </p:nvSpPr>
        <p:spPr>
          <a:xfrm>
            <a:off x="5660136" y="411480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handles natively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526280"/>
            <a:ext cx="201168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1" name="Text 59"/>
          <p:cNvSpPr/>
          <p:nvPr/>
        </p:nvSpPr>
        <p:spPr>
          <a:xfrm>
            <a:off x="320040" y="4526280"/>
            <a:ext cx="19202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04288" y="452628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2350008" y="452628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data, quick baseline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614416" y="4526280"/>
            <a:ext cx="3291840" cy="40233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5" name="Text 63"/>
          <p:cNvSpPr/>
          <p:nvPr/>
        </p:nvSpPr>
        <p:spPr>
          <a:xfrm>
            <a:off x="5660136" y="4526280"/>
            <a:ext cx="3200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max accuracy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Method Should I Use? — Decision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9606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25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11" y="854964"/>
            <a:ext cx="7680960" cy="4005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100584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992624"/>
            <a:ext cx="1005840" cy="137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06040" y="4828032"/>
            <a:ext cx="100584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accuracy: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06040" y="4992624"/>
            <a:ext cx="1005840" cy="137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0" y="4828032"/>
            <a:ext cx="100584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baseline: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54880" y="4992624"/>
            <a:ext cx="1005840" cy="137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03720" y="4828032"/>
            <a:ext cx="100584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explanation: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03720" y="4992624"/>
            <a:ext cx="1005840" cy="137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→ then RF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Code: Complete Ensemble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257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→ fit RF &amp; XGBoost → compare → interpret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26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Code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029200" cy="40690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4846320" cy="3931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RandomForestClassifier,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GradientBoostingClassifier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XGBClassifier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load_breast_cancer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data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load_breast_cancer(return_X_y=True)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feature_names = load_breast_cancer().feature_names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stratify=y, random_state=42)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Models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n_estimators=100, oob_score=True,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n_jobs=-1, random_state=42)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 = XGBClassifier(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n_estimators=200, learning_rate=0.05,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max_depth=4, eval_metric='logloss',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Cross-validate (5-fold)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model in [("RF", rf), ("XGB", xgb)]: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cross_val_score(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model, X, y, cv=5, scoring='roc_auc')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{scores.mean():.3f} "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f"± {scores.std():.3f}")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Fit RF, check OOB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print(f"OOB score: {rf.oob_score_:.3f}")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Feature importance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pd.Series(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rf.feature_importances_,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index=feature_names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).sort_values(ascending=False)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0" y="822960"/>
            <a:ext cx="34747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5623560" y="868680"/>
            <a:ext cx="3246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Each Step Does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1261872"/>
            <a:ext cx="338328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557784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1536192"/>
            <a:ext cx="3291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CV — never just train/test split for ensemble comparison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1975104"/>
            <a:ext cx="338328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557784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oob_score=True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2249424"/>
            <a:ext cx="3291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validation using the 37% of data not seen by each tree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2688336"/>
            <a:ext cx="338328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557784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n_jobs=-1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7784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CPU cores — RF is embarrassingly parallel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3401568"/>
            <a:ext cx="338328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2" name="Text 20"/>
          <p:cNvSpPr/>
          <p:nvPr/>
        </p:nvSpPr>
        <p:spPr>
          <a:xfrm>
            <a:off x="5577840" y="3438144"/>
            <a:ext cx="3291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learning_rate=0.05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LR + many trees = better generalization for XGBoost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4114800"/>
            <a:ext cx="338328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5577840" y="4151376"/>
            <a:ext cx="32918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feature_importances_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77840" y="4389120"/>
            <a:ext cx="3291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matter most? Use for business explanation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Tuning: What to Adjust and Why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importance — start with the most impactful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27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Code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148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33856"/>
            <a:ext cx="411480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274320" y="1133856"/>
            <a:ext cx="77724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292608" y="1133856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1408176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1207008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more stable; test error typically plateaus. Cost: slower training.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0" y="1243584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3657600" y="1243584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Shape 16"/>
          <p:cNvSpPr/>
          <p:nvPr/>
        </p:nvSpPr>
        <p:spPr>
          <a:xfrm>
            <a:off x="274320" y="1755648"/>
            <a:ext cx="77724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292608" y="1755648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2608" y="2029968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"sqrt"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" y="1828800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"sqrt" for classification, "log2" or 0.3 for regression.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1865376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3657600" y="1865376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377440"/>
            <a:ext cx="411480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77724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6" name="Text 24"/>
          <p:cNvSpPr/>
          <p:nvPr/>
        </p:nvSpPr>
        <p:spPr>
          <a:xfrm>
            <a:off x="292608" y="2377440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" y="2651760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None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" y="2450592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if overfitting. Start unconstrained.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2487168"/>
            <a:ext cx="685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0" name="Text 28"/>
          <p:cNvSpPr/>
          <p:nvPr/>
        </p:nvSpPr>
        <p:spPr>
          <a:xfrm>
            <a:off x="3657600" y="2487168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9923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274320" y="2999232"/>
            <a:ext cx="77724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292608" y="2999232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2608" y="3273552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97280" y="3072384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prevents tiny leaves, reduces overfit on small data.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3108960"/>
            <a:ext cx="685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7" name="Text 35"/>
          <p:cNvSpPr/>
          <p:nvPr/>
        </p:nvSpPr>
        <p:spPr>
          <a:xfrm>
            <a:off x="3657600" y="3108960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621024"/>
            <a:ext cx="411480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9" name="Shape 37"/>
          <p:cNvSpPr/>
          <p:nvPr/>
        </p:nvSpPr>
        <p:spPr>
          <a:xfrm>
            <a:off x="274320" y="3621024"/>
            <a:ext cx="777240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0" name="Text 38"/>
          <p:cNvSpPr/>
          <p:nvPr/>
        </p:nvSpPr>
        <p:spPr>
          <a:xfrm>
            <a:off x="292608" y="3621024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92608" y="3895344"/>
            <a:ext cx="75895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None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7280" y="3694176"/>
            <a:ext cx="2560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"balanced" for imbalanced classes.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0" y="3730752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4" name="Text 42"/>
          <p:cNvSpPr/>
          <p:nvPr/>
        </p:nvSpPr>
        <p:spPr>
          <a:xfrm>
            <a:off x="3657600" y="3730752"/>
            <a:ext cx="685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804672"/>
            <a:ext cx="4206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6" name="Text 44"/>
          <p:cNvSpPr/>
          <p:nvPr/>
        </p:nvSpPr>
        <p:spPr>
          <a:xfrm>
            <a:off x="470916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1133856"/>
            <a:ext cx="4206240" cy="51206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8" name="Shape 46"/>
          <p:cNvSpPr/>
          <p:nvPr/>
        </p:nvSpPr>
        <p:spPr>
          <a:xfrm>
            <a:off x="4663440" y="1133856"/>
            <a:ext cx="8686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9" name="Text 47"/>
          <p:cNvSpPr/>
          <p:nvPr/>
        </p:nvSpPr>
        <p:spPr>
          <a:xfrm>
            <a:off x="4681728" y="1133856"/>
            <a:ext cx="83210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(η)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681728" y="1389888"/>
            <a:ext cx="832104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0.3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77840" y="1188720"/>
            <a:ext cx="2560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0.05-0.1. Lower = better, needs more trees.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83880" y="1225296"/>
            <a:ext cx="5943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3" name="Text 51"/>
          <p:cNvSpPr/>
          <p:nvPr/>
        </p:nvSpPr>
        <p:spPr>
          <a:xfrm>
            <a:off x="8183880" y="1225296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1700784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5" name="Shape 53"/>
          <p:cNvSpPr/>
          <p:nvPr/>
        </p:nvSpPr>
        <p:spPr>
          <a:xfrm>
            <a:off x="4663440" y="1700784"/>
            <a:ext cx="8686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6" name="Text 54"/>
          <p:cNvSpPr/>
          <p:nvPr/>
        </p:nvSpPr>
        <p:spPr>
          <a:xfrm>
            <a:off x="4681728" y="1700784"/>
            <a:ext cx="83210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81728" y="1956816"/>
            <a:ext cx="832104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100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577840" y="1755648"/>
            <a:ext cx="2560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1000, use early stopping to find best.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183880" y="1792224"/>
            <a:ext cx="5943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0" name="Text 58"/>
          <p:cNvSpPr/>
          <p:nvPr/>
        </p:nvSpPr>
        <p:spPr>
          <a:xfrm>
            <a:off x="8183880" y="1792224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2267712"/>
            <a:ext cx="4206240" cy="51206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2" name="Shape 60"/>
          <p:cNvSpPr/>
          <p:nvPr/>
        </p:nvSpPr>
        <p:spPr>
          <a:xfrm>
            <a:off x="4663440" y="2267712"/>
            <a:ext cx="8686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3" name="Text 61"/>
          <p:cNvSpPr/>
          <p:nvPr/>
        </p:nvSpPr>
        <p:spPr>
          <a:xfrm>
            <a:off x="4681728" y="2267712"/>
            <a:ext cx="83210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681728" y="2523744"/>
            <a:ext cx="832104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577840" y="2322576"/>
            <a:ext cx="2560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typical. Deeper → more complex → overfit risk.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183880" y="2359152"/>
            <a:ext cx="5943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7" name="Text 65"/>
          <p:cNvSpPr/>
          <p:nvPr/>
        </p:nvSpPr>
        <p:spPr>
          <a:xfrm>
            <a:off x="8183880" y="2359152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63440" y="2834640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69" name="Shape 67"/>
          <p:cNvSpPr/>
          <p:nvPr/>
        </p:nvSpPr>
        <p:spPr>
          <a:xfrm>
            <a:off x="4663440" y="2834640"/>
            <a:ext cx="8686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0" name="Text 68"/>
          <p:cNvSpPr/>
          <p:nvPr/>
        </p:nvSpPr>
        <p:spPr>
          <a:xfrm>
            <a:off x="4681728" y="2834640"/>
            <a:ext cx="83210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 (L1)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681728" y="3090672"/>
            <a:ext cx="832104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77840" y="2889504"/>
            <a:ext cx="2560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solutions — use when many irrelevant features.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83880" y="2926080"/>
            <a:ext cx="5943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4" name="Text 72"/>
          <p:cNvSpPr/>
          <p:nvPr/>
        </p:nvSpPr>
        <p:spPr>
          <a:xfrm>
            <a:off x="8183880" y="2926080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663440" y="3401568"/>
            <a:ext cx="4206240" cy="51206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6" name="Shape 74"/>
          <p:cNvSpPr/>
          <p:nvPr/>
        </p:nvSpPr>
        <p:spPr>
          <a:xfrm>
            <a:off x="4663440" y="3401568"/>
            <a:ext cx="8686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7" name="Text 75"/>
          <p:cNvSpPr/>
          <p:nvPr/>
        </p:nvSpPr>
        <p:spPr>
          <a:xfrm>
            <a:off x="4681728" y="3401568"/>
            <a:ext cx="83210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reg_lambda (L2)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681728" y="3657600"/>
            <a:ext cx="832104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577840" y="3456432"/>
            <a:ext cx="2560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solutions — increase if overfitting.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183880" y="3493008"/>
            <a:ext cx="5943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1" name="Text 79"/>
          <p:cNvSpPr/>
          <p:nvPr/>
        </p:nvSpPr>
        <p:spPr>
          <a:xfrm>
            <a:off x="8183880" y="3493008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663440" y="3968496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3" name="Shape 81"/>
          <p:cNvSpPr/>
          <p:nvPr/>
        </p:nvSpPr>
        <p:spPr>
          <a:xfrm>
            <a:off x="4663440" y="3968496"/>
            <a:ext cx="86868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4" name="Text 82"/>
          <p:cNvSpPr/>
          <p:nvPr/>
        </p:nvSpPr>
        <p:spPr>
          <a:xfrm>
            <a:off x="4681728" y="3968496"/>
            <a:ext cx="83210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681728" y="4224528"/>
            <a:ext cx="832104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1.0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577840" y="4023360"/>
            <a:ext cx="2560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= use 80% of rows per tree. Reduces overfit.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183880" y="4059936"/>
            <a:ext cx="5943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8" name="Text 86"/>
          <p:cNvSpPr/>
          <p:nvPr/>
        </p:nvSpPr>
        <p:spPr>
          <a:xfrm>
            <a:off x="8183880" y="4059936"/>
            <a:ext cx="594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0" name="Text 88"/>
          <p:cNvSpPr/>
          <p:nvPr/>
        </p:nvSpPr>
        <p:spPr>
          <a:xfrm>
            <a:off x="457200" y="4663440"/>
            <a:ext cx="83210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keep defaults except n_estimators=300, learning_rate=0.05, early stopping. Only tune max_depth if still overfitting.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— and How to Fix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in practice, and what to do instead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28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84048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38404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Using train accuracy to compare RF vs XGBoost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26187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 cross-validation over a single train/test split. RF and XGBoost both overfit training data — CV gives a more reliable estimate of generalisation.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384048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274320" y="2176272"/>
            <a:ext cx="38404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Setting n_estimators too low (e.g. 10 trees)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615184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Start with 100–500. More trees = more stable predictions. Adding trees rarely hurts accuracy — the main cost is training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529584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274320" y="3529584"/>
            <a:ext cx="384048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274320" y="3529584"/>
            <a:ext cx="38404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" y="3575304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Using boosting on very noisy labels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968496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Boosting amplifies noise — it focuses more and more on 'hard' examples that may just be mislabeled. Use RF on noisy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82296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2" name="Shape 20"/>
          <p:cNvSpPr/>
          <p:nvPr/>
        </p:nvSpPr>
        <p:spPr>
          <a:xfrm>
            <a:off x="4800600" y="822960"/>
            <a:ext cx="38404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800600" y="822960"/>
            <a:ext cx="38404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39512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using early stopping with XGBoost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1261872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 n_estimators=1000, early_stopping_rounds=20. Without it, XGBoost will silently overfit to training data.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176272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800600" y="2176272"/>
            <a:ext cx="38404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800600" y="2176272"/>
            <a:ext cx="38404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39512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Confusing feature importance between RF and XGBoost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9512" y="2615184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RF MDI is biased toward high-cardinality features. XGBoost importance has multiple types (gain, cover, weight). Use SHAP for reliable interpretation.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529584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32" name="Shape 30"/>
          <p:cNvSpPr/>
          <p:nvPr/>
        </p:nvSpPr>
        <p:spPr>
          <a:xfrm>
            <a:off x="4800600" y="3529584"/>
            <a:ext cx="38404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3" name="Text 31"/>
          <p:cNvSpPr/>
          <p:nvPr/>
        </p:nvSpPr>
        <p:spPr>
          <a:xfrm>
            <a:off x="4800600" y="3529584"/>
            <a:ext cx="384048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9512" y="3575304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Thinking more trees always means slower inference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9512" y="3968496"/>
            <a:ext cx="36576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Inference is generally fast even with 500 trees, since they run in parallel. For latency-sensitive production systems, measure prediction time explicitly.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Connecting to Business: What Do You Tell a Stakeholder?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1663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 lens — translating model results to business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29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406640" y="7040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Business Intuition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11480" y="841248"/>
            <a:ext cx="841248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 trained a Random Forest on BankEU loan data. How do you present results to the credit committee?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804672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should we trust 100 trees more than 1?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makes different errors on different data. When 80 out of 100 trees agree an applicant should be rejected, that's a very robust signal — much stronger than any single model.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57984"/>
            <a:ext cx="85953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411480" y="2194560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What's the most important factor in rejections?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Income accounts for 55% of the model’s total impurity reduction. Debt ratio accounts for 30%. Age contributes little. This is actionable — focus underwriting rules on income verification.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8595360" cy="804672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411480" y="3090672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accurate is the model?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data (OOB), the model correctly classifies 87% of applicants. More importantly: it catches 92% of future defaults (recall on the bad class).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50208"/>
            <a:ext cx="85953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11480" y="3986784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you explain why applicant 42 was rejected?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279392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requires SHAP (Session 8). For now: RF gives you which features matter most, not why for individual predictions.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Preview: SHAP values will let you explain INDIVIDUAL predictions — the final piece of the explainability puzzle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7 Summary: What You Now Know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48920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that should be clear before you leave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Ensemble Methods  |  30 /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57200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457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3520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work because uncorrelated errors cancel out — this is the Wisdom of Crowds, not magic.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57200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274320" y="2212848"/>
            <a:ext cx="457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441448"/>
            <a:ext cx="3520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trains trees in parallel on bootstrap samples. It reduces variance — the instability of single trees.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457200" cy="1280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274320" y="3602736"/>
            <a:ext cx="457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3831336"/>
            <a:ext cx="3520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adds random feature subsets at each split. This forces tree diversity and prevents correlated errors.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822960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45720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4846320" y="822960"/>
            <a:ext cx="457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1051560"/>
            <a:ext cx="3520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trains sequentially, each model fixing the errors of the previous. It reduces bias — weak learners become strong.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12848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4846320" y="2212848"/>
            <a:ext cx="45720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4846320" y="2212848"/>
            <a:ext cx="457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2441448"/>
            <a:ext cx="3520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XGBoost/LightGBM are gradient boosting + regularization + engineering. Use them with early stopping for best results.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602736"/>
            <a:ext cx="4160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27" name="Shape 25"/>
          <p:cNvSpPr/>
          <p:nvPr/>
        </p:nvSpPr>
        <p:spPr>
          <a:xfrm>
            <a:off x="4846320" y="3602736"/>
            <a:ext cx="45720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4846320" y="3602736"/>
            <a:ext cx="457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3831336"/>
            <a:ext cx="3520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Random Forest as your baseline. Switch to XGBoost when you need to squeeze out more accuracy.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9933</TotalTime>
  <Words>7960</Words>
  <Application>Microsoft Macintosh PowerPoint</Application>
  <PresentationFormat>On-screen Show (16:9)</PresentationFormat>
  <Paragraphs>1198</Paragraphs>
  <Slides>35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 — Ensemble Methods</dc:title>
  <dc:subject>PptxGenJS Presentation</dc:subject>
  <dc:creator>Youcef — ECAM Brussels ML Course</dc:creator>
  <cp:lastModifiedBy>BOUHARAOUA Youcef</cp:lastModifiedBy>
  <cp:revision>4</cp:revision>
  <dcterms:created xsi:type="dcterms:W3CDTF">2026-03-04T22:58:43Z</dcterms:created>
  <dcterms:modified xsi:type="dcterms:W3CDTF">2026-03-13T06:59:07Z</dcterms:modified>
</cp:coreProperties>
</file>