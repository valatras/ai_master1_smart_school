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7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40916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B1B"/>
                    </a:solidFill>
                    <a:latin typeface="Arial"/>
                  </a:defRPr>
                </a:pPr>
                <a:endParaRPr lang="en-B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Petal Width</c:v>
                </c:pt>
                <c:pt idx="1">
                  <c:v>Petal Length</c:v>
                </c:pt>
                <c:pt idx="2">
                  <c:v>Sepal Length</c:v>
                </c:pt>
                <c:pt idx="3">
                  <c:v>Sepal Width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0.44</c:v>
                </c:pt>
                <c:pt idx="1">
                  <c:v>0.41</c:v>
                </c:pt>
                <c:pt idx="2">
                  <c:v>0.1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B5-3E47-AC74-D1C77B7F62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44E41"/>
                </a:solidFill>
                <a:latin typeface="Arial"/>
              </a:defRPr>
            </a:pPr>
            <a:endParaRPr lang="en-B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F75"/>
                </a:solidFill>
                <a:latin typeface="Arial"/>
              </a:defRPr>
            </a:pPr>
            <a:endParaRPr lang="en-BE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4550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463040" cy="347472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Trees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Intuitive Power of Nested Decision Rules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2286000" cy="0"/>
          </a:xfrm>
          <a:prstGeom prst="line">
            <a:avLst/>
          </a:prstGeom>
          <a:noFill/>
          <a:ln w="254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 •  Information Gain  •  Gini Impurity  •  Pruning  •  Feature Importance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Decision Tree?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ML algorithm that makes predictions by learning nested decision rules from data.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Classification AND Regression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Node — First decision (top of tree)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Nodes — Internal nodes testing a feature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Nodes — Final predictions (terminal)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— Outcomes of each test (Yes/No)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B7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predicts: Follow the path from root to leaf,</a:t>
            </a:r>
            <a:endParaRPr lang="en-US" sz="13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B7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conditions at each node.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38404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502920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Should I Play Tennis?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1645920"/>
            <a:ext cx="1463040" cy="45720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5943600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0" cy="54864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" name="Shape 10"/>
          <p:cNvSpPr/>
          <p:nvPr/>
        </p:nvSpPr>
        <p:spPr>
          <a:xfrm>
            <a:off x="7132320" y="2103120"/>
            <a:ext cx="731520" cy="54864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3" name="Shape 11"/>
          <p:cNvSpPr/>
          <p:nvPr/>
        </p:nvSpPr>
        <p:spPr>
          <a:xfrm>
            <a:off x="6675120" y="2103120"/>
            <a:ext cx="0" cy="54864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5120640" y="23317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23317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Overcast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80960" y="2331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72200" y="2697480"/>
            <a:ext cx="1005840" cy="36576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8" name="Text 16"/>
          <p:cNvSpPr/>
          <p:nvPr/>
        </p:nvSpPr>
        <p:spPr>
          <a:xfrm>
            <a:off x="6172200" y="2697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2697480"/>
            <a:ext cx="1097280" cy="41148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0" name="Text 18"/>
          <p:cNvSpPr/>
          <p:nvPr/>
        </p:nvSpPr>
        <p:spPr>
          <a:xfrm>
            <a:off x="5029200" y="2697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0" y="2697480"/>
            <a:ext cx="914400" cy="41148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2" name="Text 20"/>
          <p:cNvSpPr/>
          <p:nvPr/>
        </p:nvSpPr>
        <p:spPr>
          <a:xfrm>
            <a:off x="7315200" y="2697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03520" y="3108960"/>
            <a:ext cx="0" cy="36576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4" name="Shape 22"/>
          <p:cNvSpPr/>
          <p:nvPr/>
        </p:nvSpPr>
        <p:spPr>
          <a:xfrm>
            <a:off x="5852160" y="3108960"/>
            <a:ext cx="365760" cy="36576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5" name="Shape 23"/>
          <p:cNvSpPr/>
          <p:nvPr/>
        </p:nvSpPr>
        <p:spPr>
          <a:xfrm>
            <a:off x="4572000" y="3520440"/>
            <a:ext cx="731520" cy="32004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6" name="Text 24"/>
          <p:cNvSpPr/>
          <p:nvPr/>
        </p:nvSpPr>
        <p:spPr>
          <a:xfrm>
            <a:off x="4572000" y="35204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52160" y="3520440"/>
            <a:ext cx="731520" cy="32004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8" name="Text 26"/>
          <p:cNvSpPr/>
          <p:nvPr/>
        </p:nvSpPr>
        <p:spPr>
          <a:xfrm>
            <a:off x="5852160" y="35204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98080" y="3108960"/>
            <a:ext cx="0" cy="36576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0" name="Shape 28"/>
          <p:cNvSpPr/>
          <p:nvPr/>
        </p:nvSpPr>
        <p:spPr>
          <a:xfrm>
            <a:off x="7955280" y="3108960"/>
            <a:ext cx="274320" cy="36576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1" name="Shape 29"/>
          <p:cNvSpPr/>
          <p:nvPr/>
        </p:nvSpPr>
        <p:spPr>
          <a:xfrm>
            <a:off x="6858000" y="3520440"/>
            <a:ext cx="731520" cy="32004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2" name="Text 30"/>
          <p:cNvSpPr/>
          <p:nvPr/>
        </p:nvSpPr>
        <p:spPr>
          <a:xfrm>
            <a:off x="6858000" y="35204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863840" y="3520440"/>
            <a:ext cx="731520" cy="320040"/>
          </a:xfrm>
          <a:prstGeom prst="rect">
            <a:avLst/>
          </a:prstGeom>
          <a:solidFill>
            <a:srgbClr val="FFE0E0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4" name="Text 32"/>
          <p:cNvSpPr/>
          <p:nvPr/>
        </p:nvSpPr>
        <p:spPr>
          <a:xfrm>
            <a:off x="7863840" y="35204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63440" y="3246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High/Low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680960" y="32461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Strong/Weak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8" name="Shape 36"/>
          <p:cNvSpPr/>
          <p:nvPr/>
        </p:nvSpPr>
        <p:spPr>
          <a:xfrm>
            <a:off x="457200" y="4663440"/>
            <a:ext cx="54864" cy="384048"/>
          </a:xfrm>
          <a:prstGeom prst="rect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9" name="Text 37"/>
          <p:cNvSpPr/>
          <p:nvPr/>
        </p:nvSpPr>
        <p:spPr>
          <a:xfrm>
            <a:off x="731520" y="4663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are popular because they are easy to interpret, require minimal preprocessing, and handle both numerical and categorical features.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Intuition: The Tree Farm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54864"/>
          </a:xfrm>
          <a:prstGeom prst="rect">
            <a:avLst/>
          </a:prstGeom>
          <a:solidFill>
            <a:srgbClr val="D4A373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plot with Apple, Cherry, and Oak trees. Given only trunk Diameter and Height, predict the tree type. Each split divides the feature space with an axis-aligned boundary — creating rectangular regions.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920240" cy="5486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First Split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8803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Diameter ≤ 0.45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Oaks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237744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3" name="Shape 11"/>
          <p:cNvSpPr/>
          <p:nvPr/>
        </p:nvSpPr>
        <p:spPr>
          <a:xfrm>
            <a:off x="2560320" y="2377440"/>
            <a:ext cx="192024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269748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Second Split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97480" y="28803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≤ 4.88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Cherries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37744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7" name="Shape 15"/>
          <p:cNvSpPr/>
          <p:nvPr/>
        </p:nvSpPr>
        <p:spPr>
          <a:xfrm>
            <a:off x="4663440" y="2377440"/>
            <a:ext cx="1920240" cy="54864"/>
          </a:xfrm>
          <a:prstGeom prst="rect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8" name="Text 16"/>
          <p:cNvSpPr/>
          <p:nvPr/>
        </p:nvSpPr>
        <p:spPr>
          <a:xfrm>
            <a:off x="480060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More Splits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28803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partitions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Apple vs Cherry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237744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1" name="Shape 19"/>
          <p:cNvSpPr/>
          <p:nvPr/>
        </p:nvSpPr>
        <p:spPr>
          <a:xfrm>
            <a:off x="6766560" y="2377440"/>
            <a:ext cx="1920240" cy="54864"/>
          </a:xfrm>
          <a:prstGeom prst="rect">
            <a:avLst/>
          </a:prstGeom>
          <a:solidFill>
            <a:srgbClr val="BC474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2" name="Text 20"/>
          <p:cNvSpPr/>
          <p:nvPr/>
        </p:nvSpPr>
        <p:spPr>
          <a:xfrm>
            <a:off x="690372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Stop!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28803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deep = overfitting!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 good enough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54864" cy="384048"/>
          </a:xfrm>
          <a:prstGeom prst="rect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6" name="Text 24"/>
          <p:cNvSpPr/>
          <p:nvPr/>
        </p:nvSpPr>
        <p:spPr>
          <a:xfrm>
            <a:off x="731520" y="4663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tree creates axis-aligned decision boundaries. This is both its strength (simple) and weakness (can't do diagonal splits).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to Split? Understanding Entropy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Entropy: Measuring Impurity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measures how "mixed" a set of samples is. Higher entropy = more uncertainty = more impure.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3657600" cy="502920"/>
          </a:xfrm>
          <a:prstGeom prst="rect">
            <a:avLst/>
          </a:prstGeom>
          <a:solidFill>
            <a:srgbClr val="F0F4E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- Σ  pᵢ · log₂(pᵢ)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0 → Pure node (one class only)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1.0 → Max impurity (binary, 50/50)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log₂(k) → Max for k classes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502920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Examples (Binary Class)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1554480"/>
            <a:ext cx="3474720" cy="548640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3" name="Shape 11"/>
          <p:cNvSpPr/>
          <p:nvPr/>
        </p:nvSpPr>
        <p:spPr>
          <a:xfrm>
            <a:off x="5029200" y="1554480"/>
            <a:ext cx="54864" cy="54864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5212080" y="1572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Node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18105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cats, 0 dogs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0" y="1600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0.000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0" y="2240280"/>
            <a:ext cx="3474720" cy="548640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8" name="Shape 16"/>
          <p:cNvSpPr/>
          <p:nvPr/>
        </p:nvSpPr>
        <p:spPr>
          <a:xfrm>
            <a:off x="5029200" y="2240280"/>
            <a:ext cx="54864" cy="548640"/>
          </a:xfrm>
          <a:prstGeom prst="rect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9" name="Text 17"/>
          <p:cNvSpPr/>
          <p:nvPr/>
        </p:nvSpPr>
        <p:spPr>
          <a:xfrm>
            <a:off x="5212080" y="2258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Mixed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24963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cats, 1 dog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0" y="2286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09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0.469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0" y="2926080"/>
            <a:ext cx="3474720" cy="548640"/>
          </a:xfrm>
          <a:prstGeom prst="rect">
            <a:avLst/>
          </a:prstGeom>
          <a:solidFill>
            <a:srgbClr val="FFF5E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3" name="Shape 21"/>
          <p:cNvSpPr/>
          <p:nvPr/>
        </p:nvSpPr>
        <p:spPr>
          <a:xfrm>
            <a:off x="5029200" y="2926080"/>
            <a:ext cx="54864" cy="548640"/>
          </a:xfrm>
          <a:prstGeom prst="rect">
            <a:avLst/>
          </a:prstGeom>
          <a:solidFill>
            <a:srgbClr val="D4A373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4" name="Text 22"/>
          <p:cNvSpPr/>
          <p:nvPr/>
        </p:nvSpPr>
        <p:spPr>
          <a:xfrm>
            <a:off x="5212080" y="29443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Mixed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31821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cats, 4 dogs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0" y="2971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0.971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029200" y="3611880"/>
            <a:ext cx="3474720" cy="548640"/>
          </a:xfrm>
          <a:prstGeom prst="rect">
            <a:avLst/>
          </a:prstGeom>
          <a:solidFill>
            <a:srgbClr val="FFF1F1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8" name="Shape 26"/>
          <p:cNvSpPr/>
          <p:nvPr/>
        </p:nvSpPr>
        <p:spPr>
          <a:xfrm>
            <a:off x="5029200" y="3611880"/>
            <a:ext cx="54864" cy="548640"/>
          </a:xfrm>
          <a:prstGeom prst="rect">
            <a:avLst/>
          </a:prstGeom>
          <a:solidFill>
            <a:srgbClr val="BC474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9" name="Text 27"/>
          <p:cNvSpPr/>
          <p:nvPr/>
        </p:nvSpPr>
        <p:spPr>
          <a:xfrm>
            <a:off x="5212080" y="3630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2080" y="38679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cats, 5 dogs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0" y="3657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C47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1.000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3" name="Shape 31"/>
          <p:cNvSpPr/>
          <p:nvPr/>
        </p:nvSpPr>
        <p:spPr>
          <a:xfrm>
            <a:off x="457200" y="4663440"/>
            <a:ext cx="54864" cy="384048"/>
          </a:xfrm>
          <a:prstGeom prst="rect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4" name="Text 32"/>
          <p:cNvSpPr/>
          <p:nvPr/>
        </p:nvSpPr>
        <p:spPr>
          <a:xfrm>
            <a:off x="731520" y="4663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Each split should REDUCE entropy — moving from impure parent nodes to purer child nodes.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Entropy: Worked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10 animals — 6 Cats and 4 Dogs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p(Cat) = 6/10 = 0.6          p(Dog) = 4/10 = 0.4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5943600" cy="1828800"/>
          </a:xfrm>
          <a:prstGeom prst="rect">
            <a:avLst/>
          </a:prstGeom>
          <a:solidFill>
            <a:srgbClr val="F0F4E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- [ p(Cat)·log₂(p(Cat)) + p(Dog)·log₂(p(Dog)) 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- [ 0.6 × (-0.737) + 0.4 × (-1.322) 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- [ -0.442 + (-0.529) 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- (-0.971) = 0.971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0" y="2468880"/>
            <a:ext cx="1645920" cy="822960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/>
          <p:nvPr/>
        </p:nvSpPr>
        <p:spPr>
          <a:xfrm>
            <a:off x="685800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0.971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5800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(Close to max = 1)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54864" cy="384048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6" name="Text 14"/>
          <p:cNvSpPr/>
          <p:nvPr/>
        </p:nvSpPr>
        <p:spPr>
          <a:xfrm>
            <a:off x="731520" y="4663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3 classes (Apple/Cherry/Oak), max entropy = log₂(3) ≈ 1.585. For binary, max = log₂(2) = 1.0.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 Gain: Choosing the Best Split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Gain measures how much a split REDUCES entropy. We compare the parent entropy to the weighted child entropies. The split with the HIGHEST IG wins!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685800"/>
          </a:xfrm>
          <a:prstGeom prst="rect">
            <a:avLst/>
          </a:prstGeom>
          <a:solidFill>
            <a:srgbClr val="F0F4E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  =  H(parent)  −  (1/N)  ×  Σ  Nchild  ×  H(child)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H(parent) = entropy before     |     H(child) = entropy of each child     |     Nchild/N = proportion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ID3 Algorithm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61188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Calculate entropy for every possible split (each feature × each threshold value)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Compute Information Gain for each candidate split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Choose the split with maximum IG → create decision node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Recurse on each child node until stopping criteria are met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54864" cy="384048"/>
          </a:xfrm>
          <a:prstGeom prst="rect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ID3 algorithm is GREEDY — it picks the locally best split at each step without backtracking.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 Gain: Worked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Parent: 6 Cats, 4 Dogs  (H = 0.971)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on: "Has Whiskers?"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Left (Yes): 5 Cats, 1 Dog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Right (No): 1 Cat, 3 Dogs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484632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Entropies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463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H(left)  = -(5/6)log₂(5/6) - (1/6)log₂(1/6) = 0.650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H(right) = -(1/4)log₂(1/4) - (3/4)log₂(3/4) = 0.811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Information Gain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5943600" cy="960120"/>
          </a:xfrm>
          <a:prstGeom prst="rect">
            <a:avLst/>
          </a:prstGeom>
          <a:solidFill>
            <a:srgbClr val="F0F4E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777240" y="288036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 = 0.971 - [ (6/10)×0.650 + (4/10)×0.811 ]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 = 0.971 - [ 0.390 + 0.324 ] = 0.971 - 0.714</a:t>
            </a:r>
            <a:endParaRPr lang="en-US" sz="11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 = 0.257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2788920"/>
            <a:ext cx="1645920" cy="640080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/>
          <p:nvPr/>
        </p:nvSpPr>
        <p:spPr>
          <a:xfrm>
            <a:off x="685800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 = 0.257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858000" y="3154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split!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229600" cy="384048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54864" cy="384048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9" name="Text 17"/>
          <p:cNvSpPr/>
          <p:nvPr/>
        </p:nvSpPr>
        <p:spPr>
          <a:xfrm>
            <a:off x="731520" y="41148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compute IG for EVERY possible feature × threshold combination. The highest IG becomes the next decision node.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Making a Prediction: Trace Through the Tree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54864"/>
          </a:xfrm>
          <a:prstGeom prst="rect">
            <a:avLst/>
          </a:prstGeom>
          <a:solidFill>
            <a:srgbClr val="D4A373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 Point: Diameter = 0.30, Height = 6.5 — What type of tree?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path from root to leaf, testing each condition: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9659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1965960" cy="5486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Diameter ≤ 0.45?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926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 ≤ 0.45 → YES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291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LEFT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23160" y="2926080"/>
            <a:ext cx="182880" cy="0"/>
          </a:xfrm>
          <a:prstGeom prst="line">
            <a:avLst/>
          </a:prstGeom>
          <a:noFill/>
          <a:ln w="254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5" name="Shape 13"/>
          <p:cNvSpPr/>
          <p:nvPr/>
        </p:nvSpPr>
        <p:spPr>
          <a:xfrm>
            <a:off x="2606040" y="2194560"/>
            <a:ext cx="19659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6" name="Shape 14"/>
          <p:cNvSpPr/>
          <p:nvPr/>
        </p:nvSpPr>
        <p:spPr>
          <a:xfrm>
            <a:off x="2606040" y="2194560"/>
            <a:ext cx="196596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2743200" y="23317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 ≤ 4.88?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2926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≤ 4.88 → NO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3291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RIGHT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2926080"/>
            <a:ext cx="182880" cy="0"/>
          </a:xfrm>
          <a:prstGeom prst="line">
            <a:avLst/>
          </a:prstGeom>
          <a:noFill/>
          <a:ln w="254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2" name="Shape 20"/>
          <p:cNvSpPr/>
          <p:nvPr/>
        </p:nvSpPr>
        <p:spPr>
          <a:xfrm>
            <a:off x="4754880" y="2194560"/>
            <a:ext cx="19659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3" name="Shape 21"/>
          <p:cNvSpPr/>
          <p:nvPr/>
        </p:nvSpPr>
        <p:spPr>
          <a:xfrm>
            <a:off x="4754880" y="2194560"/>
            <a:ext cx="1965960" cy="54864"/>
          </a:xfrm>
          <a:prstGeom prst="rect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4" name="Text 22"/>
          <p:cNvSpPr/>
          <p:nvPr/>
        </p:nvSpPr>
        <p:spPr>
          <a:xfrm>
            <a:off x="4892040" y="23317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Diameter ≤ 0.32?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2926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 ≤ 0.32 → YES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3291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LEFT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20840" y="2926080"/>
            <a:ext cx="182880" cy="0"/>
          </a:xfrm>
          <a:prstGeom prst="line">
            <a:avLst/>
          </a:prstGeom>
          <a:noFill/>
          <a:ln w="254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9" name="Shape 27"/>
          <p:cNvSpPr/>
          <p:nvPr/>
        </p:nvSpPr>
        <p:spPr>
          <a:xfrm>
            <a:off x="6903720" y="2194560"/>
            <a:ext cx="19659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0" name="Shape 28"/>
          <p:cNvSpPr/>
          <p:nvPr/>
        </p:nvSpPr>
        <p:spPr>
          <a:xfrm>
            <a:off x="6903720" y="2194560"/>
            <a:ext cx="1965960" cy="54864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1" name="Text 29"/>
          <p:cNvSpPr/>
          <p:nvPr/>
        </p:nvSpPr>
        <p:spPr>
          <a:xfrm>
            <a:off x="7040880" y="23317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4088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Leaf Node reached!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40880" y="3291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Apple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5" name="Shape 33"/>
          <p:cNvSpPr/>
          <p:nvPr/>
        </p:nvSpPr>
        <p:spPr>
          <a:xfrm>
            <a:off x="457200" y="4663440"/>
            <a:ext cx="54864" cy="384048"/>
          </a:xfrm>
          <a:prstGeom prst="rect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6" name="Text 34"/>
          <p:cNvSpPr/>
          <p:nvPr/>
        </p:nvSpPr>
        <p:spPr>
          <a:xfrm>
            <a:off x="731520" y="4663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= following a single path. That's why Decision Trees are so interpretable — you can trace every prediction!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tree from the farmer example (Apple/Cherry/Oak). Each new sample follows ONE path down the tree.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Gini Impurity: An Alternative to Entropy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Gini Impurity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misclassifying a randomly chosen sample.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3657600" cy="457200"/>
          </a:xfrm>
          <a:prstGeom prst="rect">
            <a:avLst/>
          </a:prstGeom>
          <a:solidFill>
            <a:srgbClr val="F0F4E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Gini = 1 - Σ pᵢ²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= 0 → Pure  |  Gini = 0.5 → Max (binary)  |  Faster: no logs!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502920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vs Gini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508760"/>
          <a:ext cx="356616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-Σ pᵢlog₂(pᵢ)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1 - Σ pᵢ²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(bin.)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to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to 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(log)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091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091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4" name="Text 11"/>
          <p:cNvSpPr/>
          <p:nvPr/>
        </p:nvSpPr>
        <p:spPr>
          <a:xfrm>
            <a:off x="64008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Example: 6 Cats, 4 Dogs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3657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Gini = 1 - (0.6² + 0.4²) = 1 - (0.36 + 0.16) = 0.48     |     Compare: Entropy = 0.971 (different scale, same conclusion!)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7" name="Shape 14"/>
          <p:cNvSpPr/>
          <p:nvPr/>
        </p:nvSpPr>
        <p:spPr>
          <a:xfrm>
            <a:off x="457200" y="4663440"/>
            <a:ext cx="54864" cy="384048"/>
          </a:xfrm>
          <a:prstGeom prst="rect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8" name="Text 15"/>
          <p:cNvSpPr/>
          <p:nvPr/>
        </p:nvSpPr>
        <p:spPr>
          <a:xfrm>
            <a:off x="731520" y="4663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Entropy and Gini produce very similar trees. sklearn uses Gini by default (criterion='gini').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Splits Work: The CART Algorithm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uses CART (Classification and Regression Trees), not ID3. Key difference: CART always makes binary splits (two branches), even for features with many categories.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ID3 can create multi-way splits (one branch per category) — CART always splits into exactly two groups.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4023360" cy="5486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Features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Sort all values of the feature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Test every midpoint between consecutive values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Pick the threshold with best IG (or Gini Gain)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Height values [3.2, 4.8, 5.1, 7.0]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thresholds: 4.0, 4.95, 6.05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28600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2" name="Shape 10"/>
          <p:cNvSpPr/>
          <p:nvPr/>
        </p:nvSpPr>
        <p:spPr>
          <a:xfrm>
            <a:off x="4663440" y="2286000"/>
            <a:ext cx="402336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484632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27432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CART: Binary split into two subsets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all possible 2-way partitions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Color ∈ {Red, Blue, Green}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 {Red} vs {Blue,Green}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 {Blue} vs {Red,Green}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 {Green} vs {Red,Blue}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54864" cy="384048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731520" y="4663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 continuous values, there are n-1 candidate thresholds. For k categories, there are 2^(k-1) - 1 possible binary partitions.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Trees for Regression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Differs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class labels, leaf nodes predict a continuous value — the mean of training samples in that leaf. Split criterion: minimize variance (MSE) instead of entropy/Gini.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502920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Criterion: MSE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0" y="1508760"/>
            <a:ext cx="3474720" cy="457200"/>
          </a:xfrm>
          <a:prstGeom prst="rect">
            <a:avLst/>
          </a:prstGeom>
          <a:solidFill>
            <a:srgbClr val="F0F4E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521208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MSE = (1/n) Σ (yᵢ - ȳ)²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057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weighted average MSE of children after each split. Same IG logic, just with variance.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54864"/>
          </a:xfrm>
          <a:prstGeom prst="rect">
            <a:avLst/>
          </a:prstGeom>
          <a:solidFill>
            <a:srgbClr val="D4A373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House Price Prediction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Root: Size ≤ 100m²?  →  Yes: Rooms ≤ 2?  →  Yes: €180k  |  No: €250k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→  No:  €420k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3383280"/>
            <a:ext cx="2103120" cy="731520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6400800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functions!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8404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 constant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54864" cy="384048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1" name="Text 19"/>
          <p:cNvSpPr/>
          <p:nvPr/>
        </p:nvSpPr>
        <p:spPr>
          <a:xfrm>
            <a:off x="731520" y="4663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sklearn: DecisionTreeRegressor(criterion='squared_error') — same tree logic, different split metric.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C474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The Overfitting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1097280"/>
          </a:xfrm>
          <a:prstGeom prst="rect">
            <a:avLst/>
          </a:prstGeom>
          <a:solidFill>
            <a:srgbClr val="BC474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constraints, a Decision Tree keeps splitting until every leaf is pure — memorizing training data (including noise). Result: perfect training accuracy, terrible test accuracy. Plus: small data changes create completely different trees!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931920" cy="54864"/>
          </a:xfrm>
          <a:prstGeom prst="rect">
            <a:avLst/>
          </a:prstGeom>
          <a:solidFill>
            <a:srgbClr val="BC474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Unconstrained Tree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until every leaf is pure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Deep, complex structure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accuracy: ~100%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POOR!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3774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2" name="Shape 10"/>
          <p:cNvSpPr/>
          <p:nvPr/>
        </p:nvSpPr>
        <p:spPr>
          <a:xfrm>
            <a:off x="4754880" y="2377440"/>
            <a:ext cx="3931920" cy="54864"/>
          </a:xfrm>
          <a:prstGeom prst="rect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493776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Pruned Tree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28803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depth/leaves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Simpler, generalizes better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accuracy: Good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Good!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54864" cy="384048"/>
          </a:xfrm>
          <a:prstGeom prst="rect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731520" y="4663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instability is exactly why ensemble methods (Session 7) were invented — Random Forests use MANY trees to average out variance!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Pruning: Controlling Tree Growth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54864"/>
          </a:xfrm>
          <a:prstGeom prst="rect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Pre-Pruning (Early Stopping)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growing BEFORE too complex.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tree depth (e.g., 5)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min_samples_split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samples to split (e.g., 10)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min_samples_leaf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samples per leaf (e.g., 5)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max_leaf_nodes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total leaves (e.g., 20)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max_features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888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features per split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40233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9" name="Shape 17"/>
          <p:cNvSpPr/>
          <p:nvPr/>
        </p:nvSpPr>
        <p:spPr>
          <a:xfrm>
            <a:off x="4663440" y="1051560"/>
            <a:ext cx="402336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0" name="Text 18"/>
          <p:cNvSpPr/>
          <p:nvPr/>
        </p:nvSpPr>
        <p:spPr>
          <a:xfrm>
            <a:off x="484632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Post-Pruning (CCP)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46320" y="1508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full tree, then remove unhelpful branches.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Complexity Pruning adds a penalty: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194560"/>
            <a:ext cx="3474720" cy="411480"/>
          </a:xfrm>
          <a:prstGeom prst="rect">
            <a:avLst/>
          </a:prstGeom>
          <a:solidFill>
            <a:srgbClr val="F0F4E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4" name="Text 22"/>
          <p:cNvSpPr/>
          <p:nvPr/>
        </p:nvSpPr>
        <p:spPr>
          <a:xfrm>
            <a:off x="5029200" y="2194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= Error(T) + α × |Leaves|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26974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 → Full tree (no pruning)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large → Tiny tree (heavy pruning)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cross-validation to find optimal α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sklearn: ccp_alpha parameter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7" name="Shape 25"/>
          <p:cNvSpPr/>
          <p:nvPr/>
        </p:nvSpPr>
        <p:spPr>
          <a:xfrm>
            <a:off x="457200" y="4663440"/>
            <a:ext cx="54864" cy="384048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8" name="Text 26"/>
          <p:cNvSpPr/>
          <p:nvPr/>
        </p:nvSpPr>
        <p:spPr>
          <a:xfrm>
            <a:off x="731520" y="4663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max_depth=5-10 and min_samples_leaf=5-10. These handle most overfitting problems.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Importance: Which Features Matter?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measures how much each feature reduces impurity across ALL splits in the tree.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impurity decrease summed for each feature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importances sum to 1.0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= more important for predictions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features → importance = 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502920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Iris Dataset</a:t>
            </a:r>
            <a:endParaRPr lang="en-US" sz="14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937760" y="1463040"/>
          <a:ext cx="356616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solidFill>
            <a:srgbClr val="F0F4E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2" name="Text 9"/>
          <p:cNvSpPr/>
          <p:nvPr/>
        </p:nvSpPr>
        <p:spPr>
          <a:xfrm>
            <a:off x="594360" y="38404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importances = model.feature_importances_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pd.Series(importances, index=feature_names).sort_values(ascending=False).plot.barh()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FFF1F1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4" name="Shape 11"/>
          <p:cNvSpPr/>
          <p:nvPr/>
        </p:nvSpPr>
        <p:spPr>
          <a:xfrm>
            <a:off x="457200" y="4663440"/>
            <a:ext cx="54864" cy="384048"/>
          </a:xfrm>
          <a:prstGeom prst="rect">
            <a:avLst/>
          </a:prstGeom>
          <a:solidFill>
            <a:srgbClr val="BC474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5" name="Text 12"/>
          <p:cNvSpPr/>
          <p:nvPr/>
        </p:nvSpPr>
        <p:spPr>
          <a:xfrm>
            <a:off x="731520" y="4663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Built-in importance can be biased toward high-cardinality features. Use permutation_importance() for robustness.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Trees: Advantages &amp; Limitations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54864"/>
          </a:xfrm>
          <a:prstGeom prst="rect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Advantages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Highly interpretable &amp; visualizable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84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feature scaling needed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140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Handles numerical + categorical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8437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Captures non-linear relationships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73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 training and prediction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Built-in feature importance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40233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4023360" cy="54864"/>
          </a:xfrm>
          <a:prstGeom prst="rect">
            <a:avLst/>
          </a:prstGeom>
          <a:solidFill>
            <a:srgbClr val="BC474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/>
          <p:nvPr/>
        </p:nvSpPr>
        <p:spPr>
          <a:xfrm>
            <a:off x="484632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Prone to overfitting without pruning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984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Unstable (small data change → different tree)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4140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Only axis-aligned splits (no diagonals)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8437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Greedy: locally optimal ≠ globally optimal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273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Biased feature importance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Single tree often weaker than ensembles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54864" cy="384048"/>
          </a:xfrm>
          <a:prstGeom prst="rect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4" name="Text 22"/>
          <p:cNvSpPr/>
          <p:nvPr/>
        </p:nvSpPr>
        <p:spPr>
          <a:xfrm>
            <a:off x="731520" y="4663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instability &amp; weakness of single trees is WHY ensemble methods exist — Session 7 covers Random Forests &amp; Boosting!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Decision Trees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73152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Required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1430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Medical, credit, regulatory (EU AI Act) — must explain WHY.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54864" cy="73152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Baseline Model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0116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interpretable first model before trying complex algorithms.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54864" cy="731520"/>
          </a:xfrm>
          <a:prstGeom prst="rect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73152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Feature Types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28803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+ categorical without encoding or scaling.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54864" cy="731520"/>
          </a:xfrm>
          <a:prstGeom prst="rect">
            <a:avLst/>
          </a:prstGeom>
          <a:solidFill>
            <a:srgbClr val="D4A373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8" name="Text 16"/>
          <p:cNvSpPr/>
          <p:nvPr/>
        </p:nvSpPr>
        <p:spPr>
          <a:xfrm>
            <a:off x="73152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Tool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37490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feature_importances_ to identify key features for other models.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FFF1F1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1" name="Shape 19"/>
          <p:cNvSpPr/>
          <p:nvPr/>
        </p:nvSpPr>
        <p:spPr>
          <a:xfrm>
            <a:off x="457200" y="4663440"/>
            <a:ext cx="54864" cy="384048"/>
          </a:xfrm>
          <a:prstGeom prst="rect">
            <a:avLst/>
          </a:prstGeom>
          <a:solidFill>
            <a:srgbClr val="BC474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2" name="Text 20"/>
          <p:cNvSpPr/>
          <p:nvPr/>
        </p:nvSpPr>
        <p:spPr>
          <a:xfrm>
            <a:off x="731520" y="4663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for: very high-dimensional data, smooth boundaries needed, or when max accuracy is the only goal.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sklearn: DecisionTreeClassifier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solidFill>
            <a:srgbClr val="F0F4E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7955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9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sklearn.tree import DecisionTreeClassifier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09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09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classification_report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F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Split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train_test_split(X, y, test_size=0.2, random_state=42)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F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and train the model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 = DecisionTreeClassifier(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criterion='gini',        # or 'entropy'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max_depth=5,             # KEY: prevent overfitting!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min_samples_leaf=5,      # min samples per leaf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random_state=42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tree.fit(X_train, y_train)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F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Evaluate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= tree.predict(X_test)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print(classification_report(y_test, y_pred))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Shape 5"/>
          <p:cNvSpPr/>
          <p:nvPr/>
        </p:nvSpPr>
        <p:spPr>
          <a:xfrm>
            <a:off x="457200" y="4663440"/>
            <a:ext cx="54864" cy="384048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max_depth and min_samples_leaf to prevent overfitting! Start with max_depth=5 and tune from there.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Visualizing Decision Trees in Python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5486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1: plot_tree (Quick)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657600" cy="1097280"/>
          </a:xfrm>
          <a:prstGeom prst="rect">
            <a:avLst/>
          </a:prstGeom>
          <a:solidFill>
            <a:srgbClr val="F0F4E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sklearn.tree import plot_tree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 = plt.subplots(figsize=(15,10))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plot_tree(tree, filled=True,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feature_names=cols,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class_names=targets, ax=ax)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02336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484632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2: Graphviz (Pretty)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554480"/>
            <a:ext cx="3657600" cy="1097280"/>
          </a:xfrm>
          <a:prstGeom prst="rect">
            <a:avLst/>
          </a:prstGeom>
          <a:solidFill>
            <a:srgbClr val="F0F4E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4983480" y="1600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sklearn.tree import export_graphviz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graphviz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 = export_graphviz(tree,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feature_names=cols,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class_names=targets,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filled=True, rounded=True)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54864"/>
          </a:xfrm>
          <a:prstGeom prst="rect">
            <a:avLst/>
          </a:prstGeom>
          <a:solidFill>
            <a:srgbClr val="D4A373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3: Text Export (Debugging)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566160"/>
            <a:ext cx="7772400" cy="365760"/>
          </a:xfrm>
          <a:prstGeom prst="rect">
            <a:avLst/>
          </a:prstGeom>
          <a:solidFill>
            <a:srgbClr val="F0F4E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sklearn.tree import export_text;  print(export_text(tree, feature_names=cols))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54864" cy="384048"/>
          </a:xfrm>
          <a:prstGeom prst="rect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1" name="Text 19"/>
          <p:cNvSpPr/>
          <p:nvPr/>
        </p:nvSpPr>
        <p:spPr>
          <a:xfrm>
            <a:off x="731520" y="4663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is a huge advantage of Decision Trees — try explaining a neural network this easily!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Hyperparameter Tuning with GridSearchCV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377440"/>
          </a:xfrm>
          <a:prstGeom prst="rect">
            <a:avLst/>
          </a:prstGeom>
          <a:solidFill>
            <a:srgbClr val="F0F4E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7955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9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GridSearchCV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param_grid =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'max_depth': [3, 5, 7, 10, None],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'min_samples_split': [2, 5, 10],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'min_samples_leaf': [1, 3, 5, 10],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'criterion': ['gini', 'entropy'],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= GridSearchCV(DecisionTreeClassifier(random_state=42),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param_grid, cv=5, scoring='f1', n_jobs=-1)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grid.fit(X_train, y_train)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print(f'Best: {grid.best_params_}  Score: {grid.best_score_:.3f}')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Starting Ranges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data: max_depth 3-7, min_samples_leaf 5-10     |     Large data: max_depth 5-15, min_samples_leaf 10-50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0" name="Shape 8"/>
          <p:cNvSpPr/>
          <p:nvPr/>
        </p:nvSpPr>
        <p:spPr>
          <a:xfrm>
            <a:off x="457200" y="4663440"/>
            <a:ext cx="54864" cy="384048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cross-validation (cv=5) to avoid overfitting hyperparameters. Choose scoring metric based on your problem (Session 5!).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Complexity Pruning: Finding Optimal 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560320"/>
          </a:xfrm>
          <a:prstGeom prst="rect">
            <a:avLst/>
          </a:prstGeom>
          <a:solidFill>
            <a:srgbClr val="F0F4E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7955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Get the cost complexity pruning path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= tree.cost_complexity_pruning_path(X_train, y_train)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alphas = path.ccp_alphas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F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Train a tree for each alpha value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trees = [DecisionTreeClassifier(ccp_alpha=a, random_state=42).fit(X_train, y_train)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for a in alphas]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F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Plot train vs test accuracy for each alpha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train_scores = [t.score(X_train, y_train) for t in trees]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test_scores  = [t.score(X_test, y_test) for t in trees]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F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4: Choose alpha where test score is highest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optimal_alpha = alphas[np.argmax(test_scores)]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α → Complex tree (overfit)     →     Optimal α → Best generalization     →     High α → Too simple (underfit)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54864" cy="384048"/>
          </a:xfrm>
          <a:prstGeom prst="rect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731520" y="4663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accuracy vs alpha to visually find the sweet spot — where train and test curves are closest and test is highest.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Applications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146304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Symptom-based protocols. "If fever &gt; 38°C AND cough → Test for flu." Interpretability required by law.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54864" cy="14630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484632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Approve/deny loans. EU AI Act requires explainable models — trees naturally comply.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54864" cy="1463040"/>
          </a:xfrm>
          <a:prstGeom prst="rect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64008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2004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usage &lt; 5h/month AND support_tickets &gt; 3 → likely to churn." Actionable rules!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7432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7" name="Shape 15"/>
          <p:cNvSpPr/>
          <p:nvPr/>
        </p:nvSpPr>
        <p:spPr>
          <a:xfrm>
            <a:off x="4663440" y="2743200"/>
            <a:ext cx="54864" cy="1463040"/>
          </a:xfrm>
          <a:prstGeom prst="rect">
            <a:avLst/>
          </a:prstGeom>
          <a:solidFill>
            <a:srgbClr val="D4A373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8" name="Text 16"/>
          <p:cNvSpPr/>
          <p:nvPr/>
        </p:nvSpPr>
        <p:spPr>
          <a:xfrm>
            <a:off x="484632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QA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46320" y="32004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 from sensor readings. Operators need to understand the rules.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1" name="Shape 19"/>
          <p:cNvSpPr/>
          <p:nvPr/>
        </p:nvSpPr>
        <p:spPr>
          <a:xfrm>
            <a:off x="457200" y="4663440"/>
            <a:ext cx="54864" cy="384048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2" name="Text 20"/>
          <p:cNvSpPr/>
          <p:nvPr/>
        </p:nvSpPr>
        <p:spPr>
          <a:xfrm>
            <a:off x="731520" y="4663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(2024): High-risk AI systems (credit, medical, hiring) MUST provide explanations. Trees are naturally compliant!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C474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Common Mistakes with Decision Trees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Shape 3"/>
          <p:cNvSpPr/>
          <p:nvPr/>
        </p:nvSpPr>
        <p:spPr>
          <a:xfrm>
            <a:off x="566928" y="1161288"/>
            <a:ext cx="320040" cy="320040"/>
          </a:xfrm>
          <a:prstGeom prst="ellipse">
            <a:avLst/>
          </a:prstGeom>
          <a:solidFill>
            <a:srgbClr val="BC474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6" name="Text 4"/>
          <p:cNvSpPr/>
          <p:nvPr/>
        </p:nvSpPr>
        <p:spPr>
          <a:xfrm>
            <a:off x="566928" y="1161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124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depth limit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356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Always set max_depth (start with 5)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0" name="Shape 8"/>
          <p:cNvSpPr/>
          <p:nvPr/>
        </p:nvSpPr>
        <p:spPr>
          <a:xfrm>
            <a:off x="4773168" y="1161288"/>
            <a:ext cx="320040" cy="320040"/>
          </a:xfrm>
          <a:prstGeom prst="ellipse">
            <a:avLst/>
          </a:prstGeom>
          <a:solidFill>
            <a:srgbClr val="BC474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4773168" y="1161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66360" y="1124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for imbalanced 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4356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F1, MCC, balanced accuracy (Session 5!)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5" name="Shape 13"/>
          <p:cNvSpPr/>
          <p:nvPr/>
        </p:nvSpPr>
        <p:spPr>
          <a:xfrm>
            <a:off x="566928" y="2304288"/>
            <a:ext cx="320040" cy="320040"/>
          </a:xfrm>
          <a:prstGeom prst="ellipse">
            <a:avLst/>
          </a:prstGeom>
          <a:solidFill>
            <a:srgbClr val="BC474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6" name="Text 14"/>
          <p:cNvSpPr/>
          <p:nvPr/>
        </p:nvSpPr>
        <p:spPr>
          <a:xfrm>
            <a:off x="566928" y="2304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267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visualizing the tree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5786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Always inspect with plot_tree or export_text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19456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0" name="Shape 18"/>
          <p:cNvSpPr/>
          <p:nvPr/>
        </p:nvSpPr>
        <p:spPr>
          <a:xfrm>
            <a:off x="4773168" y="2304288"/>
            <a:ext cx="320040" cy="320040"/>
          </a:xfrm>
          <a:prstGeom prst="ellipse">
            <a:avLst/>
          </a:prstGeom>
          <a:solidFill>
            <a:srgbClr val="BC474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1" name="Text 19"/>
          <p:cNvSpPr/>
          <p:nvPr/>
        </p:nvSpPr>
        <p:spPr>
          <a:xfrm>
            <a:off x="4773168" y="2304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66360" y="2267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feature importance blindly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25786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permutation importance for robustness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33756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5" name="Shape 23"/>
          <p:cNvSpPr/>
          <p:nvPr/>
        </p:nvSpPr>
        <p:spPr>
          <a:xfrm>
            <a:off x="566928" y="3447288"/>
            <a:ext cx="320040" cy="320040"/>
          </a:xfrm>
          <a:prstGeom prst="ellipse">
            <a:avLst/>
          </a:prstGeom>
          <a:solidFill>
            <a:srgbClr val="BC474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6" name="Text 24"/>
          <p:cNvSpPr/>
          <p:nvPr/>
        </p:nvSpPr>
        <p:spPr>
          <a:xfrm>
            <a:off x="566928" y="3447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3410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data unnecessarily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37216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Trees DON'T need scaling! (But other models do)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33756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0" name="Shape 28"/>
          <p:cNvSpPr/>
          <p:nvPr/>
        </p:nvSpPr>
        <p:spPr>
          <a:xfrm>
            <a:off x="4773168" y="3447288"/>
            <a:ext cx="320040" cy="320040"/>
          </a:xfrm>
          <a:prstGeom prst="ellipse">
            <a:avLst/>
          </a:prstGeom>
          <a:solidFill>
            <a:srgbClr val="BC474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1" name="Text 29"/>
          <p:cNvSpPr/>
          <p:nvPr/>
        </p:nvSpPr>
        <p:spPr>
          <a:xfrm>
            <a:off x="4773168" y="3447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66360" y="3410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Expecting smooth predictions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66360" y="37216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Trees produce step functions — that's by design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FFF1F1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5" name="Shape 33"/>
          <p:cNvSpPr/>
          <p:nvPr/>
        </p:nvSpPr>
        <p:spPr>
          <a:xfrm>
            <a:off x="457200" y="4617720"/>
            <a:ext cx="54864" cy="384048"/>
          </a:xfrm>
          <a:prstGeom prst="rect">
            <a:avLst/>
          </a:prstGeom>
          <a:solidFill>
            <a:srgbClr val="BC474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6" name="Text 34"/>
          <p:cNvSpPr/>
          <p:nvPr/>
        </p:nvSpPr>
        <p:spPr>
          <a:xfrm>
            <a:off x="731520" y="46177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mistake: not constraining the tree. An unconstrained tree will ALWAYS overfit.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Hyperparameters Quick Reference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criterion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'gini'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quality ('gini' or 'entropy')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 both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max_depth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tree depth. KEY overfitting control!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min_samples_split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samples to allow a split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min_samples_leaf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samples in each leaf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max_leaf_nodes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total leaves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max_features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features considered per split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'sqrt', 'log2'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ccp_alpha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complexity pruning 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0.0-0.05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class_weight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 imbalanced classes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'balanced'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6" name="Shape 3"/>
          <p:cNvSpPr/>
          <p:nvPr/>
        </p:nvSpPr>
        <p:spPr>
          <a:xfrm>
            <a:off x="457200" y="4617720"/>
            <a:ext cx="54864" cy="384048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4"/>
          <p:cNvSpPr/>
          <p:nvPr/>
        </p:nvSpPr>
        <p:spPr>
          <a:xfrm>
            <a:off x="731520" y="46177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simple: set max_depth=5 and min_samples_leaf=5. Then use GridSearchCV to fine-tune.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Trees vs Previous Models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class. &amp; regr.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boundary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Non-linear (steps)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91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 (visual)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(coefficients)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(coefficients)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scaling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91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non-linearity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91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Naturally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poly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poly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C47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(needs pruning)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(regularized)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(regularized)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C47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(high variance)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impute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impute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6" name="Shape 3"/>
          <p:cNvSpPr/>
          <p:nvPr/>
        </p:nvSpPr>
        <p:spPr>
          <a:xfrm>
            <a:off x="457200" y="4663440"/>
            <a:ext cx="54864" cy="384048"/>
          </a:xfrm>
          <a:prstGeom prst="rect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4"/>
          <p:cNvSpPr/>
          <p:nvPr/>
        </p:nvSpPr>
        <p:spPr>
          <a:xfrm>
            <a:off x="731520" y="4663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model is best for everything. Decision Trees shine when interpretability matters and data has non-linear patterns.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Framework: Choosing Your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Yourself These Questions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840480" cy="365760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need to explain predictions?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Decision Tree is a great choice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3840480" cy="365760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77724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data imbalanced?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057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class_weight='balanced' + MCC/F1 metrics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514600"/>
            <a:ext cx="3840480" cy="365760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77724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features a mix of types?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514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handle this natively — no encoding needed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971800"/>
            <a:ext cx="3840480" cy="365760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6" name="Text 14"/>
          <p:cNvSpPr/>
          <p:nvPr/>
        </p:nvSpPr>
        <p:spPr>
          <a:xfrm>
            <a:off x="77724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need maximum accuracy?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971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ensembles (Session 7) or neural nets (Session 9)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429000"/>
            <a:ext cx="3840480" cy="365760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9" name="Text 17"/>
          <p:cNvSpPr/>
          <p:nvPr/>
        </p:nvSpPr>
        <p:spPr>
          <a:xfrm>
            <a:off x="77724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training speed critical?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429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are very fast — good for prototyping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886200"/>
            <a:ext cx="3840480" cy="365760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2" name="Text 20"/>
          <p:cNvSpPr/>
          <p:nvPr/>
        </p:nvSpPr>
        <p:spPr>
          <a:xfrm>
            <a:off x="777240" y="3886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the model be audited/regulated?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886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are EU AI Act friendly — use them!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54864" cy="384048"/>
          </a:xfrm>
          <a:prstGeom prst="rect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6" name="Text 24"/>
          <p:cNvSpPr/>
          <p:nvPr/>
        </p:nvSpPr>
        <p:spPr>
          <a:xfrm>
            <a:off x="731520" y="4663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Decision Trees are a FOUNDATION. Next session, we build ensembles (Random Forest, XGBoost) on top of them!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6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5486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split data using nested rules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measures node impurity (H = -Σpᵢlog₂pᵢ)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Gain = entropy reduction from split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impurity = alternative (sklearn default)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prevents overfitting (max_depth!)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ranks variable usefulness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classification AND regression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interpretable — EU AI Act friendly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54864"/>
          </a:xfrm>
          <a:prstGeom prst="rect">
            <a:avLst/>
          </a:prstGeom>
          <a:solidFill>
            <a:srgbClr val="BC474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484632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 to Remember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constrain (max_depth, min_samples_leaf)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trees are unstable (high variance)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axis-aligned splits (rectangular regions)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algorithm — no global optimum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can be misleading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limitations motivate Session 7: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 (Random Forest, Boosting)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54864" cy="384048"/>
          </a:xfrm>
          <a:prstGeom prst="rect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 to know: H = -Σpᵢlog₂(pᵢ)  |  Gini = 1 - Σpᵢ²  |  IG = H(parent) - Σ(Nchild/N)×H(child)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286000" cy="0"/>
          </a:xfrm>
          <a:prstGeom prst="line">
            <a:avLst/>
          </a:prstGeom>
          <a:noFill/>
          <a:ln w="254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7: Ensemble Methods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Forests — Many trees &gt; one tree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— Bootstrap aggregating to reduce variance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— Sequential learning from mistakes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&amp; LightGBM — State-of-the-art for tabular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7772400" cy="5486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instability of single trees is not a bug — it's the foundation of Random Forests!"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•  ECAM Brussels  •  Master 1 Business Analysis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3613</Words>
  <Application>Microsoft Macintosh PowerPoint</Application>
  <PresentationFormat>On-screen Show (16:9)</PresentationFormat>
  <Paragraphs>504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6: Decision Trees</dc:title>
  <dc:subject>PptxGenJS Presentation</dc:subject>
  <dc:creator>ECAM Brussels - ML Course</dc:creator>
  <cp:lastModifiedBy>BOUHARAOUA Youcef</cp:lastModifiedBy>
  <cp:revision>2</cp:revision>
  <dcterms:created xsi:type="dcterms:W3CDTF">2026-02-19T19:56:15Z</dcterms:created>
  <dcterms:modified xsi:type="dcterms:W3CDTF">2026-02-20T13:47:15Z</dcterms:modified>
</cp:coreProperties>
</file>