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50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4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E S S I O N   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&amp;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Dimensionality Reduction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structure without labels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Roadmap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Unsupervised Shift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1143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88720" y="1554480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2057400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548640" y="2148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0" y="21488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2560320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548640" y="26517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2651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0" y="2651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3063240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548640" y="3154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154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8720" y="3566160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887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0" y="36576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188720" y="4069080"/>
            <a:ext cx="68580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548640" y="4160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8872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772400" y="41605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Unsupervised Shift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474720" cy="210312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labels y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y from X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1–8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DB2777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74904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Unsupervised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9202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— only X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discover structure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examples: customer segmentation, anomaly detection, data compression, recommendation engines, visualization of high-dimensional data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Curse of Dimensionality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0" y="1280160"/>
            <a:ext cx="3657600" cy="237744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521208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0" y="16916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points in 1D: well-covered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points in 2D: sparse grid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points in 10D: each point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essentially alone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10¹⁰ points to cover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 as densely as 1D!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dimensions increase: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1764792"/>
            <a:ext cx="164592" cy="16459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114300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between points become nearly equal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2221992"/>
            <a:ext cx="164592" cy="16459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11430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becomes sparse — neighborhoods unreliable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679192"/>
            <a:ext cx="164592" cy="16459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11430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accumulates across 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3136392"/>
            <a:ext cx="164592" cy="164592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114300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need exponentially more 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713232" y="3931920"/>
            <a:ext cx="7818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we need dimensionality reduction: fewer dimensions → more meaningful distances, less noise, better clustering.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DB2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 S E   S T U D 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CustomerScope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company wants to segment its 10,000 customers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targeted marketing — but has no predefined groups.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available: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310128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spending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630168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8"/>
          <p:cNvSpPr/>
          <p:nvPr/>
        </p:nvSpPr>
        <p:spPr>
          <a:xfrm>
            <a:off x="96012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frequency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950208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96012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 size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3310128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41605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0" y="3630168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416052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of last visit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31920" y="3950208"/>
            <a:ext cx="118872" cy="11887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416052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vs in-store ratio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Clustering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"Group similar customers without predefined categories"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10,000 customers and 6 features.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wants 3–5 actionable segments.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the simplest, most widely used clustering algorithm.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partitions data into K groups by minimizing within-cluster distances.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560320"/>
            <a:ext cx="4389120" cy="1371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Shape 7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8"/>
          <p:cNvSpPr/>
          <p:nvPr/>
        </p:nvSpPr>
        <p:spPr>
          <a:xfrm>
            <a:off x="713232" y="420624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assumption: K-Means assumes spherical, equally-sized clusters. We'll see alternatives for other shapes.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K-Means: The Algorithm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261872"/>
            <a:ext cx="320040" cy="3200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640080" y="12618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0100" y="1581912"/>
            <a:ext cx="0" cy="155448"/>
          </a:xfrm>
          <a:prstGeom prst="line">
            <a:avLst/>
          </a:prstGeom>
          <a:noFill/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(number of clusters)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1764792"/>
            <a:ext cx="320040" cy="3200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0100" y="2084832"/>
            <a:ext cx="0" cy="155448"/>
          </a:xfrm>
          <a:prstGeom prst="line">
            <a:avLst/>
          </a:prstGeom>
          <a:noFill/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109728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K centroids (randomly or k-means++)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267712"/>
            <a:ext cx="320040" cy="3200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640080" y="2267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100" y="2587752"/>
            <a:ext cx="0" cy="155448"/>
          </a:xfrm>
          <a:prstGeom prst="line">
            <a:avLst/>
          </a:prstGeom>
          <a:noFill/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1097280" y="2240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point to its nearest centroid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2770632"/>
            <a:ext cx="320040" cy="3200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64008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0100" y="3090672"/>
            <a:ext cx="0" cy="155448"/>
          </a:xfrm>
          <a:prstGeom prst="line">
            <a:avLst/>
          </a:prstGeom>
          <a:noFill/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109728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centroids as cluster means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273552"/>
            <a:ext cx="320040" cy="32004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640080" y="3273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2461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3–4 until convergence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= assignments no longer change (or WCSS change &lt; threshold).</a:t>
            </a:r>
            <a:endParaRPr lang="en-US" sz="1100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4206240" cy="22860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754880" y="3383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iteration: initialize → assign → update centroids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K-Means: Worked Example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points, K = 2. Initial centroids: μ₁ = B(1.5, 1.8), μ₂ = C(5, 8)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4114800" cy="19659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d(μ₁)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d(μ₂)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(1.5, 1.8)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(5, 8)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(6, 9)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(1, 0.6)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D28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(5.5, 7)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B27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760720" y="15087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centroids: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μ₁ = mean(A, B, E) = (1.17, 1.47)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μ₂ = mean(C, D, F) = (5.50, 8.00)</a:t>
            </a:r>
            <a:endParaRPr lang="en-US" sz="1200" dirty="0"/>
          </a:p>
        </p:txBody>
      </p:sp>
      <p:sp>
        <p:nvSpPr>
          <p:cNvPr id="7" name="Shape 6"/>
          <p:cNvSpPr/>
          <p:nvPr/>
        </p:nvSpPr>
        <p:spPr>
          <a:xfrm>
            <a:off x="5760720" y="2743200"/>
            <a:ext cx="3017520" cy="82296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7"/>
          <p:cNvSpPr/>
          <p:nvPr/>
        </p:nvSpPr>
        <p:spPr>
          <a:xfrm>
            <a:off x="5943600" y="2788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WCSS = Σ ||xᵢ − μₖ||²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(0.54² + 0² + 1.28²)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(0² + 1.41² + 1.12²) = 5.17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Shape 9"/>
          <p:cNvSpPr/>
          <p:nvPr/>
        </p:nvSpPr>
        <p:spPr>
          <a:xfrm>
            <a:off x="548640" y="411480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0"/>
          <p:cNvSpPr/>
          <p:nvPr/>
        </p:nvSpPr>
        <p:spPr>
          <a:xfrm>
            <a:off x="713232" y="411480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assign → update until centroids stop moving. Here, convergence happens after iteration 2.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K-Means: Objective Function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 =  Σ(k=1..K)  Σ(xᵢ ∈ Cₖ)  ‖ xᵢ − μₖ ‖²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2194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within-cluster sum of squares (WCSS) — lower is better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63347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26334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clusters (hyperparameter you choose)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07238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307238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points assigned to cluster 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51129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351129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(mean) of cluster k: μₖ = (1/|Cₖ|) Σ xᵢ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5020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 xᵢ − μₖ ‖²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39502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Euclidean distance from point to its centroid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54864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713232" y="425196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an iterative optimization: it minimizes J, but may find a local minimum, not the global one. → Use multiple restarts (n_init).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K-Means++: Smart Initialization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initialization can lead to poor convergence. K-Means++ spreads initial centroids apart: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first centroid μ₁ uniformly at random from the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point x, compute D(x) = distance to nearest existing centroid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880360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next centroid with probability proportional to D(x)²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274320" cy="27432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2–3 until K centroids are chosen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645920"/>
            <a:ext cx="2834640" cy="21031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0" name="Text 18"/>
          <p:cNvSpPr/>
          <p:nvPr/>
        </p:nvSpPr>
        <p:spPr>
          <a:xfrm>
            <a:off x="6126480" y="1691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Intuition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26480" y="20574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far from existing centroids have higher probability of being chosen as the next centroid.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ensures centroids are spread across the data, avoiding the 'all centroids in one cluster' trap.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3" name="Shape 21"/>
          <p:cNvSpPr/>
          <p:nvPr/>
        </p:nvSpPr>
        <p:spPr>
          <a:xfrm>
            <a:off x="548640" y="4206240"/>
            <a:ext cx="54864" cy="502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4" name="Text 22"/>
          <p:cNvSpPr/>
          <p:nvPr/>
        </p:nvSpPr>
        <p:spPr>
          <a:xfrm>
            <a:off x="713232" y="420624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default: init='k-means++'. Always use it. Random init is almost never better.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K-Means: Implementation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029200" cy="292608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scale before clustering!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scaler.fit_transform(X)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 = KMeans(n_clusters=4, init='k-means++',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n_init=10, random_state=42)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kmeans.fit_predict(X_scaled)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results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centroids = kmeans.cluster_centers_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inertia = kmeans.inertia_  # WCSS value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3017520" cy="292608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59436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Parameters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6002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n_clusters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— number of clusters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'k-means++' (default, recommended)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restarts (default 10)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reproducibility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54864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713232" y="4297680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StandardScaler before K-Means. Features on different scales distort Euclidean distance.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977640"/>
            <a:ext cx="8229600" cy="7315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5"/>
          <p:cNvSpPr/>
          <p:nvPr/>
        </p:nvSpPr>
        <p:spPr>
          <a:xfrm>
            <a:off x="731520" y="400507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score: 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s(i) = (b − a) / max(a, b)    where </a:t>
            </a: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mean distance to points in same cluster,  </a:t>
            </a: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mean distance to nearest other cluster.  Range [−1, +1]. Higher = better.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K: Implementation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297680" cy="274320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silhouette_score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Elbow method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wcss = []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K_range = range(2, 10)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K_range: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 = KMeans(n_clusters=k, n_init=10, random_state=42)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km.fit(X_scaled)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wcss.append(km.inertia_)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plt.plot(K_range, wcss, 'o-')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plt.xlabel('K'); plt.ylabel('WCSS')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plt.title('Elbow Method'); plt.show()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274320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4983480" y="118872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Silhouette analysis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k in range(2, 8):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km = KMeans(n_clusters=k, n_init=10,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random_state=42)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 = km.fit_predict(X_scaled)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silhouette_score(X_scaled, labels)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print(f"K={k}: silhouette={score:.3f}")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Pick K with highest silhouette score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(also consider business requirements)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4864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713232" y="411480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method gives a definitive answer. Always combine with domain knowledge: does K=4 produce segments marketing can actually act on?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K-Means: Pitfalls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spherical clusters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261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elongated or ring-shaped groups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727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initialization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k-means++ and multiple restarts (n_init)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choose K in advance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Elbow/silhouette help but are heuristics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706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scale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62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standardize features first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273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distort centroids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52958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removing outliers or using K-Medoids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297680" cy="12801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572000" y="2194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fails on non-spherical shapes — DBSCAN handles them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54864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Text 15"/>
          <p:cNvSpPr/>
          <p:nvPr/>
        </p:nvSpPr>
        <p:spPr>
          <a:xfrm>
            <a:off x="713232" y="4297680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a starting point, not the final answer. Always try at least one alternative.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Metrics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results depend entirely on how you measure 'closeness':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8046720" cy="1417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scale?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Euclidean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√Σ(xᵢ − yᵢ)²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Dense, spherical clusters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always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Manhattan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Σ|xᵢ − yᵢ|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/ high-dim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always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(x·y)/(‖x‖‖y‖)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/ direction matters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(normalized)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always uses Euclidean distance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(because the centroid update formula assumes it). For other metrics, use K-Medoids.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8"/>
          <p:cNvSpPr/>
          <p:nvPr/>
        </p:nvSpPr>
        <p:spPr>
          <a:xfrm>
            <a:off x="713232" y="393192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features are numeric with different units → Euclidean + StandardScaler. If features are counts or frequencies → consider Cosine.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Clustering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want to explore cluster structure at multiple levels — without choosing K upfront.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(bottom-up) algorithm: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each point is its own cluster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two closest clusters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0632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one cluster remains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dendrogram at desired level → your clusters</a:t>
            </a:r>
            <a:endParaRPr lang="en-US" sz="13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840480" cy="256032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Shape 15"/>
          <p:cNvSpPr/>
          <p:nvPr/>
        </p:nvSpPr>
        <p:spPr>
          <a:xfrm>
            <a:off x="548640" y="420624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9" name="Text 16"/>
          <p:cNvSpPr/>
          <p:nvPr/>
        </p:nvSpPr>
        <p:spPr>
          <a:xfrm>
            <a:off x="713232" y="420624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K-Means, hierarchical clustering produces a full hierarchy. You choose the number of clusters after seeing the 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Linkage Methods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"Distance between two clusters" can mean different things: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distance between any 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 (elongated)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distance between any 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Compact, equal-size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pairwise distance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in total WCSS after merge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Compact, similar to K-Means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Shape 6"/>
          <p:cNvSpPr/>
          <p:nvPr/>
        </p:nvSpPr>
        <p:spPr>
          <a:xfrm>
            <a:off x="548640" y="384048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7"/>
          <p:cNvSpPr/>
          <p:nvPr/>
        </p:nvSpPr>
        <p:spPr>
          <a:xfrm>
            <a:off x="713232" y="384048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start with Ward linkage — it produces compact clusters similar to K-Means and is the most commonly used in practice.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 Dendrogram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0292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1005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read: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77840" y="14173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57784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merge distance. Higher = more dissimilar clusters being merged.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7784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merge event. The two branches below it are the clusters that merged.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77840" y="2697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horizontally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7784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clusters. Cut at height 5 → 2 clusters. Cut at 2.5 → 3 clusters.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577840" y="3337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vertical gaps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7784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natural cluster boundaries. Look for the biggest jump in merge distance.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Shape 14"/>
          <p:cNvSpPr/>
          <p:nvPr/>
        </p:nvSpPr>
        <p:spPr>
          <a:xfrm>
            <a:off x="548640" y="438912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Text 15"/>
          <p:cNvSpPr/>
          <p:nvPr/>
        </p:nvSpPr>
        <p:spPr>
          <a:xfrm>
            <a:off x="713232" y="4389120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dendrogram is a decision tool: it shows you what K values are natural for your data.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Clustering: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051560"/>
            <a:ext cx="5029200" cy="329184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685800" y="11430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AgglomerativeClustering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scipy.cluster.hierarchy import dendrogram, linkage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 clustering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hc = AgglomerativeClustering(n_clusters=4,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linkage='ward')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hc.fit_predict(X_scaled)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Visualize dendrogram (uses scipy, not sklearn)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linkage(X_scaled, method='ward')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dendrogram(Z, truncate_mode='level', p=5)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plt.xlabel('Samples')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plt.ylabel('Distance')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plt.title('Dendrogram')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051560"/>
            <a:ext cx="3017520" cy="329184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463040"/>
            <a:ext cx="2651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truncate_mode='level'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depth of the dendrogram display (useful for large datasets)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linkage='ward'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default — minimizes variance within clusters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n_clusters=None + distance_threshold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dendrogram at a specific distance instead of specifying K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memory, O(N³) time — avoid for N &gt; 10,000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DBSCAN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Spatial Clustering of Applications with Noise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parameters: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(ε)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radius of neighborhood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minimum points to form a dense region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points: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00984"/>
            <a:ext cx="182880" cy="18288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1051560" y="32461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min_samples within 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68503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1051560" y="36301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630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ε of core, &lt; min_samples neighbors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1051560" y="40142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40142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core nor border → outlier (label = −1)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840480" cy="310896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solidFill>
            <a:srgbClr val="F0FDF4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1" name="Shape 18"/>
          <p:cNvSpPr/>
          <p:nvPr/>
        </p:nvSpPr>
        <p:spPr>
          <a:xfrm>
            <a:off x="548640" y="4389120"/>
            <a:ext cx="54864" cy="4572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2" name="Text 19"/>
          <p:cNvSpPr/>
          <p:nvPr/>
        </p:nvSpPr>
        <p:spPr>
          <a:xfrm>
            <a:off x="713232" y="4389120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 DBSCAN doesn't need K, discovers arbitrary-shaped clusters, and identifies outliers natively.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DBSCAN: Choosing ε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k-distance plot is the standard method for selecting ε: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point, compute distance to its k-th nearest neighbor (k = min_samples)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distances in decreasing order and plot them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'elbow' — the sharp bend where noise transitions to clusters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y-value at the elbow ≈ your ε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4114800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337560"/>
            <a:ext cx="8046720" cy="137160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7"/>
          <p:cNvSpPr/>
          <p:nvPr/>
        </p:nvSpPr>
        <p:spPr>
          <a:xfrm>
            <a:off x="685800" y="34290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sklearn.neighbors import NearestNeighbors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 = NearestNeighbors(n_neighbors=5)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nn.fit(X_scaled)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distances, _ = nn.kneighbors(X_scaled)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k_dist = np.sort(distances[:, 4])[::-1]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plt.plot(k_dist)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plt.ylabel('5-NN Distance'); plt.show()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DBSCAN: Implementation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029200" cy="201168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DBSCAN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DBSCAN(eps=0.5, min_samples=5)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db.fit_predict(X_scaled)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n_clusters = len(set(labels)) - (1 if -1 in labels else 0)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n_noise = list(labels).count(-1)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print(f"Clusters: {n_clusters}, Noise: {n_noise}")</a:t>
            </a:r>
            <a:endParaRPr lang="en-US" sz="1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1417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need to choose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ε and min_samples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arbitrary cluster shapes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Struggles with varying density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outliers (label = −1)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effective in very high dimensions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assumption of cluster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handle clusters of very different densities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0" y="1005840"/>
            <a:ext cx="3108960" cy="201168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of thumb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52160" y="1371600"/>
            <a:ext cx="2743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 ≥ D + 1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 = number of dimensions)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eps: use k-distance plot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 previous slide)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HDBSCAN: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auto-selects ε, handles varying density. Try it next!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 Methods: When to Use What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299923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K?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(required)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(cut dendrogram)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(auto-detected)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shape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Spherical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linkage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 handling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(label = −1)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Fast: O(NKt)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Slow: O(N²) to O(N³)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Moderate: O(N log 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Dendrogram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regions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Equal-sized, round 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Exploring hierarchy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Irregular shapes + 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8046720" cy="54864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54864" cy="54864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4"/>
          <p:cNvSpPr/>
          <p:nvPr/>
        </p:nvSpPr>
        <p:spPr>
          <a:xfrm>
            <a:off x="713232" y="420624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 start with K-Means (fast baseline), check dendrogram for hierarchy, try DBSCAN if shapes are non-spherical or you suspect outliers.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Profiling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clustering: what do these groups actually mean?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5486400" cy="2560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0" y="1371600"/>
            <a:ext cx="2926080" cy="256032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6"/>
          <p:cNvSpPr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Profiling steps: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173736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mean feature values per cluster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Normalize to compare features on different scales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Visualize with bar charts or radar plots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Name each cluster based on dominant traits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Validate with domain experts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solidFill>
            <a:srgbClr val="FDF2F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54864" cy="54864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0"/>
          <p:cNvSpPr/>
          <p:nvPr/>
        </p:nvSpPr>
        <p:spPr>
          <a:xfrm>
            <a:off x="713232" y="416052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business-critical step. Clusters that can't be named and acted upon are useless — even if the silhouette score is high.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 Component Analysis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dimensions while preserving maximum information.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8046720" cy="50292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5087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50 features onto 2D for human understanding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low-variance components that mostly capture noise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6974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features → faster downstream models (KNN, SVM)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80467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2918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features? PCA creates uncorrelated components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54864" cy="5486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713232" y="411480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is not feature selection — it creates new features (linear combinations of all originals). You lose individual feature interpretability.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PCA: The Mathematics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Covariance Matrix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(1/N) Σₙ (xₙ − x̄)(xₙ − x̄)ᵀ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Eigendecomposition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· v = λ · v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3383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3383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matrix (symmetric, positive semi-definite)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749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Eigenvectors → principal component directions (orthogonal)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41148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→ variance captured by each direction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4480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the data — subtract it to center the data first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PCA: Worked Example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Shape 5"/>
          <p:cNvSpPr/>
          <p:nvPr/>
        </p:nvSpPr>
        <p:spPr>
          <a:xfrm>
            <a:off x="548640" y="4297680"/>
            <a:ext cx="54864" cy="50292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6"/>
          <p:cNvSpPr/>
          <p:nvPr/>
        </p:nvSpPr>
        <p:spPr>
          <a:xfrm>
            <a:off x="713232" y="429768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captures 81% of variance → projecting onto PC1 alone preserves most structure. PC2 adds 19% more — keeping both retains 100%.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PCA: Step by Step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6384" y="1389888"/>
            <a:ext cx="0" cy="17373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the data (zero mean, unit variance)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09344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640080" y="16093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" y="1901952"/>
            <a:ext cx="0" cy="17373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1097280" y="15636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covariance matrix 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121408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640080" y="2121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" y="2414016"/>
            <a:ext cx="0" cy="17373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1097280" y="20756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eigenvectors and eigenvalues of 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633472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640080" y="2633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" y="2926080"/>
            <a:ext cx="0" cy="17373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1097280" y="2587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eigenvectors by decreasing eigenvalue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145536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640080" y="31455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86384" y="3438144"/>
            <a:ext cx="0" cy="173736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3" name="Text 21"/>
          <p:cNvSpPr/>
          <p:nvPr/>
        </p:nvSpPr>
        <p:spPr>
          <a:xfrm>
            <a:off x="1097280" y="30998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top k eigenvectors (your principal components)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65760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640080" y="3657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onto the k-dimensional subspace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60720" y="1051560"/>
            <a:ext cx="3017520" cy="25603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0" y="1463040"/>
            <a:ext cx="26517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 plot: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eigenvalues, look for the 'elbow' (similar to K-Means!)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variance: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k components that explain ≥ 90–95% of total variance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[4.5, 2.1, 0.3, 0.1]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Cumulative: 64%, 94%, 98%, 100%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 = 2 captures 94%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160520"/>
            <a:ext cx="8046720" cy="502920"/>
          </a:xfrm>
          <a:prstGeom prst="rect">
            <a:avLst/>
          </a:prstGeom>
          <a:solidFill>
            <a:srgbClr val="FEF2F2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1" name="Shape 29"/>
          <p:cNvSpPr/>
          <p:nvPr/>
        </p:nvSpPr>
        <p:spPr>
          <a:xfrm>
            <a:off x="548640" y="4160520"/>
            <a:ext cx="54864" cy="5029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2" name="Text 30"/>
          <p:cNvSpPr/>
          <p:nvPr/>
        </p:nvSpPr>
        <p:spPr>
          <a:xfrm>
            <a:off x="713232" y="416052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standardize before PCA! Without it, the feature with the largest scale dominates the first component.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PCA: Implementation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303520" cy="34747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sklearn.decomposition import PCA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Standardize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StandardScaler().fit_transform(X)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Fit PCA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= PCA(n_components=2)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X_pca = pca.fit_transform(X_scaled)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Explained variance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print(pca.explained_variance_ratio_)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e.g. [0.45, 0.28] → 73% in 2 components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Component loadings (NEW!)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loadings = pd.DataFrame(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pca.components_.T,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columns=['PC1', 'PC2'],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index=feature_names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print(loadings)  # Shows which features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contribute to each PC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005840"/>
            <a:ext cx="2926080" cy="274320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6080760" y="1051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Component Loadings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1371600"/>
            <a:ext cx="2651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pca.components_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what each PC 'means':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loadings for PC1: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Spending:   0.62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Frequency:  0.55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Basket:     0.48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Online:    −0.12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PC1 ≈ 'overall engagement'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713232" y="4114800"/>
            <a:ext cx="7818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 bridge interpretability and math: they explain what each PC captures in business terms.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PCA: What It Is Not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005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selects the best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PCA creates new features — linear combinations of all originals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7190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= useful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Maximum variance direction may not be the most informative for your task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43230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works on any 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70662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PCA is linear — it cannot capture nonlinear relationships (use kernel PCA or t-SNE)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1455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components are interpretable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1985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Components are mathematical blends — look at loadings to interpret them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38587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standardization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3308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Without scaling, high-variance features dominate PCA entirely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t-SNE: Nonlinear Visualization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preserves global variance. But what about local structure?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864" cy="64008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7635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if two points are close in high-dimensional space, they should remain close in 2D. Preserves local neighborhoods.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controls neighborhood size (try 5–50)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81528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2"/>
          <p:cNvSpPr/>
          <p:nvPr/>
        </p:nvSpPr>
        <p:spPr>
          <a:xfrm>
            <a:off x="1005840" y="2990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vary with random seed — run multiple times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37760" y="2697480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5212080" y="2606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Inter-cluster distances on the plot may be unreliable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3081528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5212080" y="299008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sizes on the plot can be misleading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465576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5212080" y="33741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only never use as a preprocessing step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worth knowing: UMAP — faster alternative, often better global structure preservation. Worth trying as a drop-in replacement.</a:t>
            </a:r>
            <a:endParaRPr lang="en-US" sz="11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4572000" cy="9753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Nonlinear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variance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neighborhoods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 + visualization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t-SNE: Implementation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59436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029200" cy="30175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47548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sklearn.manifold import TSNE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 t-SNE (always on scaled data)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tsne = TSNE(n_components=2, perplexity=30,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random_state=42)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X_tsne = tsne.fit_transform(X_scaled)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Color by cluster labels from K-Means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plt.scatter(X_tsne[:, 0], X_tsne[:, 1],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c=kmeans_labels, cmap='viridis',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alpha=0.6, s=20)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plt.title('t-SNE visualization')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plt.xlabel('t-SNE 1'); plt.ylabel('t-SNE 2')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plt.colorbar(label='Cluster')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108960" cy="301752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585216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tips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52160" y="1417320"/>
            <a:ext cx="2743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PCA first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many features (&gt;50). Reduces noise and speeds up t-SNE.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different perplexity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(5, 15, 30, 50) — results change significantly.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seeds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if structure is consistent.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alternative: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umap-learn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8046720" cy="50292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4864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713232" y="4251960"/>
            <a:ext cx="7818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is non-parametric: you can't transform new test data. Fit on training only, or use PCA for production pipelines.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Critical Warning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will always return groups</a:t>
            </a:r>
            <a:endParaRPr lang="en-US" sz="2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even if no natural clusters exist.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K-Means on completely random, uniform data.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happily produce K clusters. They mean nothing.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pretty 2D scatter plot is not proof of meaningful structure.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validate: domain expertise + evaluation metrics + stability checks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Unsupervised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280160" cy="1005840"/>
          </a:xfrm>
          <a:prstGeom prst="rect">
            <a:avLst/>
          </a:prstGeom>
          <a:solidFill>
            <a:srgbClr val="6D28D9"/>
          </a:solidFill>
          <a:ln w="1905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274320" y="107899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36192" y="1234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19072" y="1051560"/>
            <a:ext cx="1280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1719072" y="107899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19072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80944" y="1234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63824" y="1051560"/>
            <a:ext cx="1280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3163824" y="107899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B2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63824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/ DBSCAN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25696" y="1234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08576" y="1051560"/>
            <a:ext cx="1280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4608576" y="107899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08576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/ Elbow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70448" y="1234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53328" y="1051560"/>
            <a:ext cx="1280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1" name="Text 19"/>
          <p:cNvSpPr/>
          <p:nvPr/>
        </p:nvSpPr>
        <p:spPr>
          <a:xfrm>
            <a:off x="6053328" y="107899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53328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/ PCA 2D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1234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98080" y="1051560"/>
            <a:ext cx="128016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25" name="Text 23"/>
          <p:cNvSpPr/>
          <p:nvPr/>
        </p:nvSpPr>
        <p:spPr>
          <a:xfrm>
            <a:off x="7498080" y="107899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0" y="15087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solidFill>
            <a:srgbClr val="F5F3FF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28" name="Text 26"/>
          <p:cNvSpPr/>
          <p:nvPr/>
        </p:nvSpPr>
        <p:spPr>
          <a:xfrm>
            <a:off x="73152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B27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CustomerScope — Full Pipeline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28346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Scale 6 features → StandardScaler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3108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PCA → 3 components capture 92% variance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3383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K-Means (K=4) → 4 customer segments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Silhouette = 0.58 → decent separation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t-SNE scatter confirms visual grouping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Profile clusters: 'High-value regulars', 'Bargain hunters', 'Lapsed shoppers', 'New digital'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4864" cy="2743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discovers structure without labels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36192"/>
            <a:ext cx="54864" cy="2743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is simple but assumes spherical clusters — always try alternatives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993392"/>
            <a:ext cx="54864" cy="2743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handles arbitrary shapes and identifies outliers natively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54864" cy="2743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Text 9"/>
          <p:cNvSpPr/>
          <p:nvPr/>
        </p:nvSpPr>
        <p:spPr>
          <a:xfrm>
            <a:off x="731520" y="2377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reveals multi-level structure via dendrograms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907792"/>
            <a:ext cx="54864" cy="2743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dimensions linearly — always standardize first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54864" cy="2743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5" name="Text 13"/>
          <p:cNvSpPr/>
          <p:nvPr/>
        </p:nvSpPr>
        <p:spPr>
          <a:xfrm>
            <a:off x="731520" y="3291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is for visualization only — don't trust distances on the plot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3822192"/>
            <a:ext cx="54864" cy="2743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always produces groups — validate with metrics and domain knowledge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279392"/>
            <a:ext cx="54864" cy="274320"/>
          </a:xfrm>
          <a:prstGeom prst="rect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profiling step turns math into business insight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3676</Words>
  <Application>Microsoft Macintosh PowerPoint</Application>
  <PresentationFormat>On-screen Show (16:9)</PresentationFormat>
  <Paragraphs>672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9 — Clustering &amp; Dimensionality Reduction</dc:title>
  <dc:subject>PptxGenJS Presentation</dc:subject>
  <dc:creator>Youcef</dc:creator>
  <cp:lastModifiedBy>BOUHARAOUA Youcef</cp:lastModifiedBy>
  <cp:revision>2</cp:revision>
  <dcterms:created xsi:type="dcterms:W3CDTF">2026-03-13T00:18:46Z</dcterms:created>
  <dcterms:modified xsi:type="dcterms:W3CDTF">2026-03-13T07:01:57Z</dcterms:modified>
</cp:coreProperties>
</file>